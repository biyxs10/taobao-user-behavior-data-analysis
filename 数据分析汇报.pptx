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74" r:id="rId8"/>
    <p:sldId id="275" r:id="rId9"/>
    <p:sldId id="262" r:id="rId10"/>
    <p:sldId id="263" r:id="rId11"/>
    <p:sldId id="264" r:id="rId12"/>
    <p:sldId id="276" r:id="rId13"/>
    <p:sldId id="265" r:id="rId14"/>
    <p:sldId id="266" r:id="rId15"/>
    <p:sldId id="267" r:id="rId16"/>
    <p:sldId id="268" r:id="rId17"/>
    <p:sldId id="270" r:id="rId18"/>
    <p:sldId id="271" r:id="rId19"/>
    <p:sldId id="269" r:id="rId20"/>
    <p:sldId id="272" r:id="rId21"/>
    <p:sldId id="273" r:id="rId22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40685" y="2148840"/>
            <a:ext cx="5770880" cy="10763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/>
            </a:pPr>
            <a:r>
              <a:rPr sz="44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</a:rPr>
              <a:t>淘宝用户行为数据分析</a:t>
            </a:r>
            <a:endParaRPr sz="44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</a:endParaRPr>
          </a:p>
          <a:p>
            <a:pPr algn="ctr">
              <a:defRPr sz="2000"/>
            </a:pPr>
            <a:r>
              <a:rPr lang="en-US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</a:rPr>
              <a:t>--</a:t>
            </a:r>
            <a:r>
              <a:rPr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</a:rPr>
              <a:t>从海量行为数据到用户购买预测与精准营销</a:t>
            </a:r>
            <a:endParaRPr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3742055" cy="506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rPr>
                <a:latin typeface="黑体" charset="0"/>
                <a:ea typeface="黑体" charset="0"/>
                <a:cs typeface="黑体" charset="0"/>
              </a:rPr>
              <a:t>01 研究背景与项目目标</a:t>
            </a:r>
            <a:endParaRPr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2091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90204" pitchFamily="34" charset="0"/>
              <a:buChar char="•"/>
              <a:defRPr sz="1800"/>
            </a:pPr>
            <a:r>
              <a:rPr>
                <a:latin typeface="黑体" charset="0"/>
                <a:ea typeface="黑体" charset="0"/>
                <a:cs typeface="黑体" charset="0"/>
              </a:rPr>
              <a:t>电商用户行为数据蕴含用户偏好、商品价值与转化规律，是精细化运营的重要数据基础</a:t>
            </a:r>
            <a:endParaRPr>
              <a:latin typeface="黑体" charset="0"/>
              <a:ea typeface="黑体" charset="0"/>
              <a:cs typeface="黑体" charset="0"/>
            </a:endParaRPr>
          </a:p>
          <a:p>
            <a:pPr marL="285750" indent="-285750">
              <a:spcAft>
                <a:spcPts val="1200"/>
              </a:spcAft>
              <a:buFont typeface="Arial" panose="020B0604020202090204" pitchFamily="34" charset="0"/>
              <a:buChar char="•"/>
              <a:defRPr sz="1800"/>
            </a:pPr>
            <a:r>
              <a:rPr>
                <a:latin typeface="黑体" charset="0"/>
                <a:ea typeface="黑体" charset="0"/>
                <a:cs typeface="黑体" charset="0"/>
              </a:rPr>
              <a:t>围绕淘宝用户行为数据，完整实践“数据工程 → 特征工程 → 预测建模 → 业务转化”</a:t>
            </a:r>
            <a:endParaRPr>
              <a:latin typeface="黑体" charset="0"/>
              <a:ea typeface="黑体" charset="0"/>
              <a:cs typeface="黑体" charset="0"/>
            </a:endParaRPr>
          </a:p>
          <a:p>
            <a:pPr marL="285750" indent="-285750">
              <a:spcAft>
                <a:spcPts val="1200"/>
              </a:spcAft>
              <a:buFont typeface="Arial" panose="020B0604020202090204" pitchFamily="34" charset="0"/>
              <a:buChar char="•"/>
              <a:defRPr sz="1800"/>
            </a:pPr>
            <a:r>
              <a:rPr>
                <a:latin typeface="黑体" charset="0"/>
                <a:ea typeface="黑体" charset="0"/>
                <a:cs typeface="黑体" charset="0"/>
              </a:rPr>
              <a:t>核心预测任务：基于历史行为，预测用户未来 7 天是否购买</a:t>
            </a:r>
            <a:endParaRPr>
              <a:latin typeface="黑体" charset="0"/>
              <a:ea typeface="黑体" charset="0"/>
              <a:cs typeface="黑体" charset="0"/>
            </a:endParaRPr>
          </a:p>
          <a:p>
            <a:pPr marL="285750" indent="-285750">
              <a:spcAft>
                <a:spcPts val="1200"/>
              </a:spcAft>
              <a:buFont typeface="Arial" panose="020B0604020202090204" pitchFamily="34" charset="0"/>
              <a:buChar char="•"/>
              <a:defRPr sz="1800"/>
            </a:pPr>
            <a:r>
              <a:rPr>
                <a:latin typeface="黑体" charset="0"/>
                <a:ea typeface="黑体" charset="0"/>
                <a:cs typeface="黑体" charset="0"/>
              </a:rPr>
              <a:t>模型体系：逻辑回归、XGBoost、LightGBM、GRU、DIN，以及 Stacking 融合</a:t>
            </a:r>
            <a:endParaRPr>
              <a:latin typeface="黑体" charset="0"/>
              <a:ea typeface="黑体" charset="0"/>
              <a:cs typeface="黑体" charset="0"/>
            </a:endParaRPr>
          </a:p>
          <a:p>
            <a:pPr marL="285750" indent="-285750">
              <a:spcAft>
                <a:spcPts val="1200"/>
              </a:spcAft>
              <a:buFont typeface="Arial" panose="020B0604020202090204" pitchFamily="34" charset="0"/>
              <a:buChar char="•"/>
              <a:defRPr sz="1800"/>
            </a:pPr>
            <a:r>
              <a:rPr>
                <a:latin typeface="黑体" charset="0"/>
                <a:ea typeface="黑体" charset="0"/>
                <a:cs typeface="黑体" charset="0"/>
              </a:rPr>
              <a:t>最终将模型结果转化为精准营销建议，并通过离线 A/B Testing 模拟量化业务收益</a:t>
            </a:r>
            <a:endParaRPr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2</a:t>
            </a:r>
          </a:p>
        </p:txBody>
      </p:sp>
      <p:sp>
        <p:nvSpPr>
          <p:cNvPr id="5" name="Rounded Rectangle 2"/>
          <p:cNvSpPr/>
          <p:nvPr/>
        </p:nvSpPr>
        <p:spPr>
          <a:xfrm>
            <a:off x="1439545" y="4422140"/>
            <a:ext cx="2377440" cy="1143000"/>
          </a:xfrm>
          <a:prstGeom prst="roundRect">
            <a:avLst/>
          </a:prstGeom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tint val="100000"/>
                        <a:shade val="100000"/>
                        <a:satMod val="130000"/>
                      </a:schemeClr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</a:gradFill>
              </a14:hiddenFill>
            </a:ext>
          </a:extLst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/>
            </a:pPr>
            <a:r>
              <a:t>1,225.7万</a:t>
            </a:r>
          </a:p>
          <a:p>
            <a:pPr algn="ctr">
              <a:defRPr sz="1100"/>
            </a:pPr>
            <a:r>
              <a:t>原始行为记录</a:t>
            </a:r>
          </a:p>
        </p:txBody>
      </p:sp>
      <p:sp>
        <p:nvSpPr>
          <p:cNvPr id="6" name="Rounded Rectangle 3"/>
          <p:cNvSpPr/>
          <p:nvPr/>
        </p:nvSpPr>
        <p:spPr>
          <a:xfrm>
            <a:off x="4502785" y="4422140"/>
            <a:ext cx="2377440" cy="1143000"/>
          </a:xfrm>
          <a:prstGeom prst="round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/>
            </a:pPr>
            <a:r>
              <a:t>287.7万</a:t>
            </a:r>
          </a:p>
          <a:p>
            <a:pPr algn="ctr">
              <a:defRPr sz="1100"/>
            </a:pPr>
            <a:r>
              <a:t>商品数量</a:t>
            </a:r>
          </a:p>
        </p:txBody>
      </p:sp>
      <p:sp>
        <p:nvSpPr>
          <p:cNvPr id="7" name="Rounded Rectangle 4"/>
          <p:cNvSpPr/>
          <p:nvPr/>
        </p:nvSpPr>
        <p:spPr>
          <a:xfrm>
            <a:off x="7566024" y="4422140"/>
            <a:ext cx="2377440" cy="1143000"/>
          </a:xfrm>
          <a:prstGeom prst="round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/>
            </a:pPr>
            <a:r>
              <a:t>31天</a:t>
            </a:r>
          </a:p>
          <a:p>
            <a:pPr algn="ctr">
              <a:defRPr sz="1100"/>
            </a:pPr>
            <a:r>
              <a:t>数据时间范围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3054985" cy="506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rPr>
                <a:latin typeface="黑体" charset="0"/>
                <a:ea typeface="黑体" charset="0"/>
                <a:cs typeface="黑体" charset="0"/>
              </a:rPr>
              <a:t>02 数据</a:t>
            </a:r>
            <a:r>
              <a:rPr lang="en-US">
                <a:latin typeface="黑体" charset="0"/>
                <a:ea typeface="黑体" charset="0"/>
                <a:cs typeface="黑体" charset="0"/>
              </a:rPr>
              <a:t>读取与处理</a:t>
            </a:r>
            <a:endParaRPr lang="en-US"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914400" y="1417320"/>
            <a:ext cx="2560320" cy="1143000"/>
          </a:xfrm>
          <a:prstGeom prst="round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/>
            </a:pPr>
            <a:r>
              <a:t>12,256,906</a:t>
            </a:r>
          </a:p>
          <a:p>
            <a:pPr algn="ctr">
              <a:defRPr sz="1100"/>
            </a:pPr>
            <a:r>
              <a:t>原始记录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26255" y="1417320"/>
            <a:ext cx="2560320" cy="1143000"/>
          </a:xfrm>
          <a:prstGeom prst="round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/>
            </a:pPr>
            <a:r>
              <a:t>3</a:t>
            </a:r>
          </a:p>
          <a:p>
            <a:pPr algn="ctr">
              <a:defRPr sz="1100"/>
            </a:pPr>
            <a:r>
              <a:t>Dask 分区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38415" y="1417320"/>
            <a:ext cx="2560320" cy="1143000"/>
          </a:xfrm>
          <a:prstGeom prst="round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/>
            </a:pPr>
            <a:r>
              <a:t>Parquet</a:t>
            </a:r>
          </a:p>
          <a:p>
            <a:pPr algn="ctr">
              <a:defRPr sz="1100"/>
            </a:pPr>
            <a:r>
              <a:t>最终存储格式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71800"/>
            <a:ext cx="10789920" cy="1229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90204" pitchFamily="34" charset="0"/>
              <a:buChar char="•"/>
              <a:defRPr sz="1800"/>
            </a:pPr>
            <a:r>
              <a:rPr>
                <a:latin typeface="黑体" charset="0"/>
                <a:ea typeface="黑体" charset="0"/>
                <a:cs typeface="黑体" charset="0"/>
              </a:rPr>
              <a:t>字段：time、user_id、item_id、item_category、behavior_type</a:t>
            </a:r>
            <a:endParaRPr>
              <a:latin typeface="黑体" charset="0"/>
              <a:ea typeface="黑体" charset="0"/>
              <a:cs typeface="黑体" charset="0"/>
            </a:endParaRPr>
          </a:p>
          <a:p>
            <a:pPr marL="285750" indent="-285750">
              <a:spcAft>
                <a:spcPts val="1200"/>
              </a:spcAft>
              <a:buFont typeface="Arial" panose="020B0604020202090204" pitchFamily="34" charset="0"/>
              <a:buChar char="•"/>
              <a:defRPr sz="1800"/>
            </a:pPr>
            <a:r>
              <a:rPr>
                <a:latin typeface="黑体" charset="0"/>
                <a:ea typeface="黑体" charset="0"/>
                <a:cs typeface="黑体" charset="0"/>
              </a:rPr>
              <a:t>数据规模较大，采用 Dask 分块读取与计算，降低单机内存压力</a:t>
            </a:r>
            <a:endParaRPr>
              <a:latin typeface="黑体" charset="0"/>
              <a:ea typeface="黑体" charset="0"/>
              <a:cs typeface="黑体" charset="0"/>
            </a:endParaRPr>
          </a:p>
          <a:p>
            <a:pPr marL="285750" indent="-285750">
              <a:spcAft>
                <a:spcPts val="1200"/>
              </a:spcAft>
              <a:buFont typeface="Arial" panose="020B0604020202090204" pitchFamily="34" charset="0"/>
              <a:buChar char="•"/>
              <a:defRPr sz="1800"/>
            </a:pPr>
            <a:r>
              <a:rPr>
                <a:latin typeface="黑体" charset="0"/>
                <a:ea typeface="黑体" charset="0"/>
                <a:cs typeface="黑体" charset="0"/>
              </a:rPr>
              <a:t>清洗后转换为 Parquet，提升后续数据读取与计算效率</a:t>
            </a:r>
            <a:endParaRPr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3742055" cy="506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rPr>
                <a:latin typeface="黑体" charset="0"/>
                <a:ea typeface="黑体" charset="0"/>
                <a:cs typeface="黑体" charset="0"/>
              </a:rPr>
              <a:t>03 数据清洗与质量控制</a:t>
            </a:r>
            <a:endParaRPr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4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111250" y="1261110"/>
            <a:ext cx="8261985" cy="3298190"/>
          </a:xfrm>
          <a:prstGeom prst="rect">
            <a:avLst/>
          </a:prstGeom>
        </p:spPr>
        <p:txBody>
          <a:bodyPr>
            <a:noAutofit/>
          </a:bodyPr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90204"/>
              <a:buChar char="•"/>
            </a:pPr>
            <a:r>
              <a:rPr lang="en-US" altLang="zh-CN">
                <a:latin typeface="黑体" charset="0"/>
                <a:ea typeface="黑体" charset="0"/>
                <a:cs typeface="黑体" charset="0"/>
              </a:rPr>
              <a:t> </a:t>
            </a:r>
            <a:r>
              <a:rPr lang="zh-CN" altLang="en-US">
                <a:latin typeface="黑体" charset="0"/>
                <a:ea typeface="黑体" charset="0"/>
                <a:cs typeface="黑体" charset="0"/>
              </a:rPr>
              <a:t>无连续型变量 </a:t>
            </a:r>
            <a:r>
              <a:rPr lang="en-US" altLang="zh-CN">
                <a:latin typeface="黑体" charset="0"/>
                <a:ea typeface="黑体" charset="0"/>
                <a:cs typeface="黑体" charset="0"/>
              </a:rPr>
              <a:t>-&gt; </a:t>
            </a:r>
            <a:r>
              <a:rPr lang="zh-CN" altLang="en-US">
                <a:latin typeface="黑体" charset="0"/>
                <a:ea typeface="黑体" charset="0"/>
                <a:cs typeface="黑体" charset="0"/>
              </a:rPr>
              <a:t>异常值识别 </a:t>
            </a:r>
            <a:r>
              <a:rPr lang="en-US" altLang="zh-CN">
                <a:latin typeface="黑体" charset="0"/>
                <a:ea typeface="黑体" charset="0"/>
                <a:cs typeface="黑体" charset="0"/>
              </a:rPr>
              <a:t>-&gt; </a:t>
            </a:r>
            <a:r>
              <a:rPr lang="zh-CN" altLang="en-US">
                <a:latin typeface="黑体" charset="0"/>
                <a:ea typeface="黑体" charset="0"/>
                <a:cs typeface="黑体" charset="0"/>
              </a:rPr>
              <a:t>依据业务规则和字段取值范围</a:t>
            </a:r>
            <a:endParaRPr lang="zh-CN" altLang="en-US">
              <a:latin typeface="黑体" charset="0"/>
              <a:ea typeface="黑体" charset="0"/>
              <a:cs typeface="黑体" charset="0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90204"/>
              <a:buChar char="•"/>
            </a:pPr>
            <a:r>
              <a:rPr lang="en-US" altLang="zh-CN">
                <a:latin typeface="黑体" charset="0"/>
                <a:ea typeface="黑体" charset="0"/>
                <a:cs typeface="黑体" charset="0"/>
              </a:rPr>
              <a:t> </a:t>
            </a:r>
            <a:r>
              <a:rPr lang="zh-CN" altLang="en-US">
                <a:latin typeface="黑体" charset="0"/>
                <a:ea typeface="黑体" charset="0"/>
                <a:cs typeface="黑体" charset="0"/>
              </a:rPr>
              <a:t>用户</a:t>
            </a:r>
            <a:r>
              <a:rPr lang="en-US" altLang="zh-CN">
                <a:latin typeface="黑体" charset="0"/>
                <a:ea typeface="黑体" charset="0"/>
                <a:cs typeface="黑体" charset="0"/>
              </a:rPr>
              <a:t>-</a:t>
            </a:r>
            <a:r>
              <a:rPr lang="zh-CN" altLang="en-US">
                <a:latin typeface="黑体" charset="0"/>
                <a:ea typeface="黑体" charset="0"/>
                <a:cs typeface="黑体" charset="0"/>
              </a:rPr>
              <a:t>商品</a:t>
            </a:r>
            <a:r>
              <a:rPr lang="en-US" altLang="zh-CN">
                <a:latin typeface="黑体" charset="0"/>
                <a:ea typeface="黑体" charset="0"/>
                <a:cs typeface="黑体" charset="0"/>
              </a:rPr>
              <a:t>-</a:t>
            </a:r>
            <a:r>
              <a:rPr lang="zh-CN" altLang="en-US">
                <a:latin typeface="黑体" charset="0"/>
                <a:ea typeface="黑体" charset="0"/>
                <a:cs typeface="黑体" charset="0"/>
              </a:rPr>
              <a:t>行为</a:t>
            </a:r>
            <a:r>
              <a:rPr lang="en-US" altLang="zh-CN">
                <a:latin typeface="黑体" charset="0"/>
                <a:ea typeface="黑体" charset="0"/>
                <a:cs typeface="黑体" charset="0"/>
              </a:rPr>
              <a:t>-</a:t>
            </a:r>
            <a:r>
              <a:rPr lang="zh-CN" altLang="en-US">
                <a:latin typeface="黑体" charset="0"/>
                <a:ea typeface="黑体" charset="0"/>
                <a:cs typeface="黑体" charset="0"/>
              </a:rPr>
              <a:t>时间四元组去重</a:t>
            </a:r>
            <a:endParaRPr lang="zh-CN" altLang="en-US">
              <a:latin typeface="黑体" charset="0"/>
              <a:ea typeface="黑体" charset="0"/>
              <a:cs typeface="黑体" charset="0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90204"/>
              <a:buChar char="•"/>
            </a:pPr>
            <a:r>
              <a:rPr lang="en-US" altLang="zh-CN">
                <a:latin typeface="黑体" charset="0"/>
                <a:ea typeface="黑体" charset="0"/>
                <a:cs typeface="黑体" charset="0"/>
              </a:rPr>
              <a:t> </a:t>
            </a:r>
            <a:r>
              <a:rPr lang="zh-CN" altLang="en-US">
                <a:latin typeface="黑体" charset="0"/>
                <a:ea typeface="黑体" charset="0"/>
                <a:cs typeface="黑体" charset="0"/>
              </a:rPr>
              <a:t>统一时间格式 </a:t>
            </a:r>
            <a:r>
              <a:rPr lang="en-US" altLang="zh-CN">
                <a:latin typeface="黑体" charset="0"/>
                <a:ea typeface="黑体" charset="0"/>
                <a:cs typeface="黑体" charset="0"/>
              </a:rPr>
              <a:t>YYYY-MM-DD HH:00:00 -&gt; </a:t>
            </a:r>
            <a:r>
              <a:rPr lang="zh-CN" altLang="en-US">
                <a:latin typeface="黑体" charset="0"/>
                <a:ea typeface="黑体" charset="0"/>
                <a:cs typeface="黑体" charset="0"/>
              </a:rPr>
              <a:t>时间变量转换为</a:t>
            </a:r>
            <a:r>
              <a:rPr lang="en-US" altLang="zh-CN">
                <a:latin typeface="黑体" charset="0"/>
                <a:ea typeface="黑体" charset="0"/>
                <a:cs typeface="黑体" charset="0"/>
              </a:rPr>
              <a:t>datetime64</a:t>
            </a:r>
            <a:r>
              <a:rPr lang="zh-CN" altLang="en-US">
                <a:latin typeface="黑体" charset="0"/>
                <a:ea typeface="黑体" charset="0"/>
                <a:cs typeface="黑体" charset="0"/>
              </a:rPr>
              <a:t>类型</a:t>
            </a:r>
            <a:endParaRPr lang="zh-CN" altLang="en-US">
              <a:latin typeface="黑体" charset="0"/>
              <a:ea typeface="黑体" charset="0"/>
              <a:cs typeface="黑体" charset="0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90204"/>
              <a:buChar char="•"/>
            </a:pPr>
            <a:r>
              <a:rPr lang="en-US" altLang="zh-CN">
                <a:latin typeface="黑体" charset="0"/>
                <a:ea typeface="黑体" charset="0"/>
                <a:cs typeface="黑体" charset="0"/>
              </a:rPr>
              <a:t> 设置</a:t>
            </a:r>
            <a:r>
              <a:rPr lang="zh-CN" altLang="en-US">
                <a:latin typeface="黑体" charset="0"/>
                <a:ea typeface="黑体" charset="0"/>
                <a:cs typeface="黑体" charset="0"/>
              </a:rPr>
              <a:t>自动化数据检验脚本</a:t>
            </a:r>
            <a:r>
              <a:rPr lang="en-US" altLang="zh-CN">
                <a:latin typeface="黑体" charset="0"/>
                <a:ea typeface="黑体" charset="0"/>
                <a:cs typeface="黑体" charset="0"/>
              </a:rPr>
              <a:t>，</a:t>
            </a:r>
            <a:r>
              <a:rPr lang="zh-CN" altLang="en-US">
                <a:latin typeface="黑体" charset="0"/>
                <a:ea typeface="黑体" charset="0"/>
                <a:cs typeface="黑体" charset="0"/>
              </a:rPr>
              <a:t>高效实现数据完整性､一致性､唯一性的批量检测</a:t>
            </a:r>
            <a:endParaRPr lang="zh-CN" altLang="en-US">
              <a:latin typeface="黑体" charset="0"/>
              <a:ea typeface="黑体" charset="0"/>
              <a:cs typeface="黑体" charset="0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90204"/>
              <a:buChar char="•"/>
            </a:pPr>
            <a:endParaRPr lang="zh-CN" altLang="en-US">
              <a:latin typeface="黑体" charset="0"/>
              <a:ea typeface="黑体" charset="0"/>
              <a:cs typeface="黑体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367915" cy="506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rPr>
                <a:latin typeface="黑体" charset="0"/>
                <a:ea typeface="黑体" charset="0"/>
                <a:cs typeface="黑体" charset="0"/>
              </a:rPr>
              <a:t>04 中间表</a:t>
            </a:r>
            <a:r>
              <a:rPr lang="en-US">
                <a:latin typeface="黑体" charset="0"/>
                <a:ea typeface="黑体" charset="0"/>
                <a:cs typeface="黑体" charset="0"/>
              </a:rPr>
              <a:t>构建</a:t>
            </a:r>
            <a:endParaRPr lang="en-US"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914400" y="1325880"/>
            <a:ext cx="2560320" cy="1143000"/>
          </a:xfrm>
          <a:prstGeom prst="round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/>
            </a:pPr>
            <a:r>
              <a:t>10,000</a:t>
            </a:r>
          </a:p>
          <a:p>
            <a:pPr algn="ctr">
              <a:defRPr sz="1100"/>
            </a:pPr>
            <a:r>
              <a:t>用户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68495" y="1325880"/>
            <a:ext cx="2560320" cy="1143000"/>
          </a:xfrm>
          <a:prstGeom prst="round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/>
            </a:pPr>
            <a:r>
              <a:t>2,876,947</a:t>
            </a:r>
          </a:p>
          <a:p>
            <a:pPr algn="ctr">
              <a:defRPr sz="1100"/>
            </a:pPr>
            <a:r>
              <a:t>商品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37475" y="1325880"/>
            <a:ext cx="2560320" cy="1143000"/>
          </a:xfrm>
          <a:prstGeom prst="round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/>
            </a:pPr>
            <a:r>
              <a:t>8,916</a:t>
            </a:r>
          </a:p>
          <a:p>
            <a:pPr algn="ctr">
              <a:defRPr sz="1100"/>
            </a:pPr>
            <a:r>
              <a:t>商品类目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88920"/>
            <a:ext cx="10789920" cy="1660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90204" pitchFamily="34" charset="0"/>
              <a:buChar char="•"/>
              <a:defRPr sz="1800"/>
            </a:pPr>
            <a:r>
              <a:rPr>
                <a:latin typeface="黑体" charset="0"/>
                <a:ea typeface="黑体" charset="0"/>
                <a:cs typeface="黑体" charset="0"/>
              </a:rPr>
              <a:t>用户维度：行为总次数、各行为次数、活跃天数、最早/最晚行为时间</a:t>
            </a:r>
            <a:endParaRPr>
              <a:latin typeface="黑体" charset="0"/>
              <a:ea typeface="黑体" charset="0"/>
              <a:cs typeface="黑体" charset="0"/>
            </a:endParaRPr>
          </a:p>
          <a:p>
            <a:pPr marL="285750" indent="-285750">
              <a:spcAft>
                <a:spcPts val="1200"/>
              </a:spcAft>
              <a:buFont typeface="Arial" panose="020B0604020202090204" pitchFamily="34" charset="0"/>
              <a:buChar char="•"/>
              <a:defRPr sz="1800"/>
            </a:pPr>
            <a:r>
              <a:rPr>
                <a:latin typeface="黑体" charset="0"/>
                <a:ea typeface="黑体" charset="0"/>
                <a:cs typeface="黑体" charset="0"/>
              </a:rPr>
              <a:t>商品维度：行为总次数、各行为次数、独立用户数、首次/最后出现时间</a:t>
            </a:r>
            <a:endParaRPr>
              <a:latin typeface="黑体" charset="0"/>
              <a:ea typeface="黑体" charset="0"/>
              <a:cs typeface="黑体" charset="0"/>
            </a:endParaRPr>
          </a:p>
          <a:p>
            <a:pPr marL="285750" indent="-285750">
              <a:spcAft>
                <a:spcPts val="1200"/>
              </a:spcAft>
              <a:buFont typeface="Arial" panose="020B0604020202090204" pitchFamily="34" charset="0"/>
              <a:buChar char="•"/>
              <a:defRPr sz="1800"/>
            </a:pPr>
            <a:r>
              <a:rPr>
                <a:latin typeface="黑体" charset="0"/>
                <a:ea typeface="黑体" charset="0"/>
                <a:cs typeface="黑体" charset="0"/>
              </a:rPr>
              <a:t>时间维度：每日行为量、各行为次数、活跃用户数、活跃商品数</a:t>
            </a:r>
            <a:endParaRPr>
              <a:latin typeface="黑体" charset="0"/>
              <a:ea typeface="黑体" charset="0"/>
              <a:cs typeface="黑体" charset="0"/>
            </a:endParaRPr>
          </a:p>
          <a:p>
            <a:pPr marL="285750" indent="-285750">
              <a:spcAft>
                <a:spcPts val="1200"/>
              </a:spcAft>
              <a:buFont typeface="Arial" panose="020B0604020202090204" pitchFamily="34" charset="0"/>
              <a:buChar char="•"/>
              <a:defRPr sz="1800"/>
            </a:pPr>
            <a:r>
              <a:rPr>
                <a:latin typeface="黑体" charset="0"/>
                <a:ea typeface="黑体" charset="0"/>
                <a:cs typeface="黑体" charset="0"/>
              </a:rPr>
              <a:t>清洗后的主表与三张中间表统一以 Parquet 输出</a:t>
            </a:r>
            <a:endParaRPr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/>
          <p:nvPr/>
        </p:nvPicPr>
        <p:blipFill>
          <a:blip r:embed="rId1"/>
          <a:stretch>
            <a:fillRect/>
          </a:stretch>
        </p:blipFill>
        <p:spPr>
          <a:xfrm>
            <a:off x="1134745" y="1226185"/>
            <a:ext cx="9495790" cy="3621405"/>
          </a:xfrm>
          <a:prstGeom prst="rect">
            <a:avLst/>
          </a:prstGeom>
        </p:spPr>
      </p:pic>
      <p:sp>
        <p:nvSpPr>
          <p:cNvPr id="3" name="TextBox 1"/>
          <p:cNvSpPr txBox="1"/>
          <p:nvPr/>
        </p:nvSpPr>
        <p:spPr>
          <a:xfrm>
            <a:off x="594360" y="320040"/>
            <a:ext cx="3749675" cy="506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rPr>
                <a:latin typeface="黑体" charset="0"/>
                <a:ea typeface="黑体" charset="0"/>
                <a:cs typeface="黑体" charset="0"/>
              </a:rPr>
              <a:t>05 EDA：</a:t>
            </a:r>
            <a:r>
              <a:rPr lang="en-US">
                <a:latin typeface="黑体" charset="0"/>
                <a:ea typeface="黑体" charset="0"/>
                <a:cs typeface="黑体" charset="0"/>
              </a:rPr>
              <a:t>用户活跃情况</a:t>
            </a:r>
            <a:endParaRPr lang="en-US"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407795" y="5247005"/>
            <a:ext cx="8422005" cy="706755"/>
          </a:xfrm>
          <a:prstGeom prst="rect">
            <a:avLst/>
          </a:prstGeom>
        </p:spPr>
        <p:txBody>
          <a:bodyPr wrap="square">
            <a:spAutoFit/>
          </a:bodyPr>
          <a:p>
            <a:pPr marL="342900" indent="-342900" fontAlgn="base">
              <a:buFont typeface="Arial" panose="020B0604020202090204" pitchFamily="34" charset="0"/>
              <a:buChar char="•"/>
            </a:pPr>
            <a:r>
              <a:rPr lang="zh-CN" altLang="en-US" sz="2000" b="0" i="0">
                <a:solidFill>
                  <a:srgbClr val="000000"/>
                </a:solidFill>
                <a:latin typeface="黑体" charset="0"/>
                <a:ea typeface="黑体" charset="0"/>
                <a:cs typeface="黑体" charset="0"/>
              </a:rPr>
              <a:t>整体</a:t>
            </a:r>
            <a:r>
              <a:rPr lang="en-US" altLang="zh-CN" sz="2000" b="0" i="0">
                <a:solidFill>
                  <a:srgbClr val="000000"/>
                </a:solidFill>
                <a:latin typeface="黑体" charset="0"/>
                <a:ea typeface="黑体" charset="0"/>
                <a:cs typeface="黑体" charset="0"/>
              </a:rPr>
              <a:t>：</a:t>
            </a:r>
            <a:r>
              <a:rPr lang="zh-CN" altLang="en-US" sz="2000" b="0" i="0">
                <a:solidFill>
                  <a:srgbClr val="000000"/>
                </a:solidFill>
                <a:latin typeface="黑体" charset="0"/>
                <a:ea typeface="黑体" charset="0"/>
                <a:cs typeface="黑体" charset="0"/>
              </a:rPr>
              <a:t>在波动中上升</a:t>
            </a:r>
            <a:endParaRPr lang="zh-CN" altLang="en-US" sz="2000" b="0" i="0">
              <a:solidFill>
                <a:srgbClr val="000000"/>
              </a:solidFill>
              <a:latin typeface="黑体" charset="0"/>
              <a:ea typeface="黑体" charset="0"/>
              <a:cs typeface="黑体" charset="0"/>
            </a:endParaRPr>
          </a:p>
          <a:p>
            <a:pPr marL="342900" indent="-342900" fontAlgn="base">
              <a:buFont typeface="Arial" panose="020B0604020202090204" pitchFamily="34" charset="0"/>
              <a:buChar char="•"/>
            </a:pPr>
            <a:r>
              <a:rPr lang="zh-CN" altLang="en-US" sz="2000" b="0" i="0">
                <a:solidFill>
                  <a:srgbClr val="000000"/>
                </a:solidFill>
                <a:latin typeface="黑体" charset="0"/>
                <a:ea typeface="黑体" charset="0"/>
                <a:cs typeface="黑体" charset="0"/>
              </a:rPr>
              <a:t>在</a:t>
            </a:r>
            <a:r>
              <a:rPr lang="en-US" altLang="zh-CN" sz="2000" b="0" i="0">
                <a:solidFill>
                  <a:srgbClr val="000000"/>
                </a:solidFill>
                <a:latin typeface="黑体" charset="0"/>
                <a:ea typeface="黑体" charset="0"/>
                <a:cs typeface="黑体" charset="0"/>
              </a:rPr>
              <a:t>12</a:t>
            </a:r>
            <a:r>
              <a:rPr lang="zh-CN" altLang="en-US" sz="2000" b="0" i="0">
                <a:solidFill>
                  <a:srgbClr val="000000"/>
                </a:solidFill>
                <a:latin typeface="黑体" charset="0"/>
                <a:ea typeface="黑体" charset="0"/>
                <a:cs typeface="黑体" charset="0"/>
              </a:rPr>
              <a:t>月</a:t>
            </a:r>
            <a:r>
              <a:rPr lang="en-US" altLang="zh-CN" sz="2000" b="0" i="0">
                <a:solidFill>
                  <a:srgbClr val="000000"/>
                </a:solidFill>
                <a:latin typeface="黑体" charset="0"/>
                <a:ea typeface="黑体" charset="0"/>
                <a:cs typeface="黑体" charset="0"/>
              </a:rPr>
              <a:t>12</a:t>
            </a:r>
            <a:r>
              <a:rPr lang="zh-CN" altLang="en-US" sz="2000" b="0" i="0">
                <a:solidFill>
                  <a:srgbClr val="000000"/>
                </a:solidFill>
                <a:latin typeface="黑体" charset="0"/>
                <a:ea typeface="黑体" charset="0"/>
                <a:cs typeface="黑体" charset="0"/>
              </a:rPr>
              <a:t>日出现高峰，可能是由于双十二活动</a:t>
            </a:r>
            <a:endParaRPr lang="zh-CN" altLang="en-US" sz="2000" b="0" i="0">
              <a:solidFill>
                <a:srgbClr val="000000"/>
              </a:solidFill>
              <a:latin typeface="黑体" charset="0"/>
              <a:ea typeface="黑体" charset="0"/>
              <a:cs typeface="黑体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Box 1"/>
          <p:cNvSpPr txBox="1"/>
          <p:nvPr/>
        </p:nvSpPr>
        <p:spPr>
          <a:xfrm>
            <a:off x="594360" y="320040"/>
            <a:ext cx="3749675" cy="506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rPr>
                <a:latin typeface="黑体" charset="0"/>
                <a:ea typeface="黑体" charset="0"/>
                <a:cs typeface="黑体" charset="0"/>
              </a:rPr>
              <a:t>05 EDA：</a:t>
            </a:r>
            <a:r>
              <a:rPr lang="en-US">
                <a:latin typeface="黑体" charset="0"/>
                <a:ea typeface="黑体" charset="0"/>
                <a:cs typeface="黑体" charset="0"/>
              </a:rPr>
              <a:t>用户活跃情况</a:t>
            </a:r>
            <a:endParaRPr lang="en-US"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116330" y="5247005"/>
            <a:ext cx="9958070" cy="1322070"/>
          </a:xfrm>
          <a:prstGeom prst="rect">
            <a:avLst/>
          </a:prstGeom>
        </p:spPr>
        <p:txBody>
          <a:bodyPr wrap="square">
            <a:spAutoFit/>
          </a:bodyPr>
          <a:p>
            <a:pPr marL="342900" indent="-342900" fontAlgn="base">
              <a:buFont typeface="Arial" panose="020B0604020202090204" pitchFamily="34" charset="0"/>
              <a:buChar char="•"/>
            </a:pPr>
            <a:r>
              <a:rPr lang="zh-CN" altLang="en-US" sz="2000" b="0" i="0">
                <a:solidFill>
                  <a:srgbClr val="000000"/>
                </a:solidFill>
                <a:latin typeface="黑体" charset="0"/>
                <a:ea typeface="黑体" charset="0"/>
                <a:cs typeface="黑体" charset="0"/>
              </a:rPr>
              <a:t>用户活跃高峰期在晚上20-23点；早晨～中午时段活跃情况较稳定持平</a:t>
            </a:r>
            <a:endParaRPr lang="zh-CN" altLang="en-US" sz="2000" b="0" i="0">
              <a:solidFill>
                <a:srgbClr val="000000"/>
              </a:solidFill>
              <a:latin typeface="黑体" charset="0"/>
              <a:ea typeface="黑体" charset="0"/>
              <a:cs typeface="黑体" charset="0"/>
            </a:endParaRPr>
          </a:p>
          <a:p>
            <a:pPr marL="342900" indent="-342900" fontAlgn="base">
              <a:buFont typeface="Arial" panose="020B0604020202090204" pitchFamily="34" charset="0"/>
              <a:buChar char="•"/>
            </a:pPr>
            <a:r>
              <a:rPr lang="zh-CN" altLang="en-US" sz="2000" b="0" i="0">
                <a:solidFill>
                  <a:srgbClr val="000000"/>
                </a:solidFill>
                <a:latin typeface="黑体" charset="0"/>
                <a:ea typeface="黑体" charset="0"/>
                <a:cs typeface="黑体" charset="0"/>
              </a:rPr>
              <a:t>用户最不活跃的时间在凌晨1～早晨7点</a:t>
            </a:r>
            <a:endParaRPr lang="zh-CN" altLang="en-US" sz="2000" b="0" i="0">
              <a:solidFill>
                <a:srgbClr val="000000"/>
              </a:solidFill>
              <a:latin typeface="黑体" charset="0"/>
              <a:ea typeface="黑体" charset="0"/>
              <a:cs typeface="黑体" charset="0"/>
            </a:endParaRPr>
          </a:p>
          <a:p>
            <a:pPr marL="342900" indent="-342900" fontAlgn="base">
              <a:buFont typeface="Arial" panose="020B0604020202090204" pitchFamily="34" charset="0"/>
              <a:buChar char="•"/>
            </a:pPr>
            <a:r>
              <a:rPr lang="zh-CN" altLang="en-US" sz="2000" b="0" i="0">
                <a:solidFill>
                  <a:srgbClr val="000000"/>
                </a:solidFill>
                <a:latin typeface="黑体" charset="0"/>
                <a:ea typeface="黑体" charset="0"/>
                <a:cs typeface="黑体" charset="0"/>
              </a:rPr>
              <a:t>转化率（购买/总行为）在10点达到峰值，随后缓慢降低，从16点开始明显下降</a:t>
            </a:r>
            <a:endParaRPr lang="zh-CN" altLang="en-US" sz="2000" b="0" i="0">
              <a:solidFill>
                <a:srgbClr val="000000"/>
              </a:solidFill>
              <a:latin typeface="黑体" charset="0"/>
              <a:ea typeface="黑体" charset="0"/>
              <a:cs typeface="黑体" charset="0"/>
            </a:endParaRPr>
          </a:p>
          <a:p>
            <a:pPr marL="342900" indent="-342900" fontAlgn="base">
              <a:buFont typeface="Arial" panose="020B0604020202090204" pitchFamily="34" charset="0"/>
              <a:buChar char="•"/>
            </a:pPr>
            <a:endParaRPr lang="zh-CN" altLang="en-US" sz="2000" b="0" i="0">
              <a:solidFill>
                <a:srgbClr val="000000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pic>
        <p:nvPicPr>
          <p:cNvPr id="5" name="图片 4"/>
          <p:cNvPicPr/>
          <p:nvPr/>
        </p:nvPicPr>
        <p:blipFill>
          <a:blip r:embed="rId1"/>
          <a:stretch>
            <a:fillRect/>
          </a:stretch>
        </p:blipFill>
        <p:spPr>
          <a:xfrm>
            <a:off x="1177290" y="1130935"/>
            <a:ext cx="9209405" cy="411607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085590" cy="506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rPr>
                <a:latin typeface="黑体" charset="0"/>
                <a:ea typeface="黑体" charset="0"/>
                <a:cs typeface="黑体" charset="0"/>
              </a:rPr>
              <a:t>06 用户活跃度与转化漏斗</a:t>
            </a:r>
            <a:endParaRPr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360" y="1715770"/>
            <a:ext cx="5453380" cy="475805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285750" indent="-285750">
              <a:spcAft>
                <a:spcPts val="1200"/>
              </a:spcAft>
              <a:buFont typeface="Arial" panose="020B0604020202090204" pitchFamily="34" charset="0"/>
              <a:buChar char="•"/>
              <a:defRPr sz="1800"/>
            </a:pPr>
            <a:r>
              <a:rPr>
                <a:latin typeface="黑体" charset="0"/>
                <a:ea typeface="黑体" charset="0"/>
                <a:cs typeface="黑体" charset="0"/>
              </a:rPr>
              <a:t>漏斗分析采用递进筛选，避免收藏、加购</a:t>
            </a:r>
            <a:r>
              <a:rPr lang="en-US">
                <a:latin typeface="黑体" charset="0"/>
                <a:ea typeface="黑体" charset="0"/>
                <a:cs typeface="黑体" charset="0"/>
              </a:rPr>
              <a:t>、</a:t>
            </a:r>
            <a:r>
              <a:rPr>
                <a:latin typeface="黑体" charset="0"/>
                <a:ea typeface="黑体" charset="0"/>
                <a:cs typeface="黑体" charset="0"/>
              </a:rPr>
              <a:t>购买不存在严格先后关系带来的统计偏差</a:t>
            </a:r>
            <a:endParaRPr>
              <a:latin typeface="黑体" charset="0"/>
              <a:ea typeface="黑体" charset="0"/>
              <a:cs typeface="黑体" charset="0"/>
            </a:endParaRPr>
          </a:p>
          <a:p>
            <a:pPr marL="285750" indent="-285750">
              <a:spcAft>
                <a:spcPts val="1200"/>
              </a:spcAft>
              <a:buFont typeface="Arial" panose="020B0604020202090204" pitchFamily="34" charset="0"/>
              <a:buChar char="•"/>
              <a:defRPr sz="1800"/>
            </a:pPr>
            <a:r>
              <a:rPr>
                <a:latin typeface="黑体" charset="0"/>
                <a:ea typeface="黑体" charset="0"/>
                <a:cs typeface="黑体" charset="0"/>
              </a:rPr>
              <a:t>浏览 → 收藏是流失最明显的环节；进入收藏后，大部分用户会继续加购；加购用户中又有较大比例最终购买</a:t>
            </a:r>
            <a:endParaRPr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7</a:t>
            </a:r>
          </a:p>
        </p:txBody>
      </p:sp>
      <p:pic>
        <p:nvPicPr>
          <p:cNvPr id="12" name="图片 11"/>
          <p:cNvPicPr/>
          <p:nvPr/>
        </p:nvPicPr>
        <p:blipFill>
          <a:blip r:embed="rId1"/>
          <a:stretch>
            <a:fillRect/>
          </a:stretch>
        </p:blipFill>
        <p:spPr>
          <a:xfrm>
            <a:off x="5449570" y="1608455"/>
            <a:ext cx="6170930" cy="397129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802255" cy="506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rPr>
                <a:latin typeface="黑体" charset="0"/>
                <a:ea typeface="黑体" charset="0"/>
                <a:cs typeface="黑体" charset="0"/>
              </a:rPr>
              <a:t>07 RFM 用户分群</a:t>
            </a:r>
            <a:endParaRPr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8</a:t>
            </a:r>
          </a:p>
        </p:txBody>
      </p:sp>
      <p:pic>
        <p:nvPicPr>
          <p:cNvPr id="6" name="图片 5"/>
          <p:cNvPicPr/>
          <p:nvPr/>
        </p:nvPicPr>
        <p:blipFill>
          <a:blip r:embed="rId1"/>
          <a:stretch>
            <a:fillRect/>
          </a:stretch>
        </p:blipFill>
        <p:spPr>
          <a:xfrm>
            <a:off x="6426200" y="810260"/>
            <a:ext cx="5095240" cy="463042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903730"/>
            <a:ext cx="6337300" cy="21971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999490" y="4449445"/>
            <a:ext cx="6096000" cy="12299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spcAft>
                <a:spcPts val="1200"/>
              </a:spcAft>
              <a:buFont typeface="Arial" panose="020B0604020202090204" pitchFamily="34" charset="0"/>
              <a:buChar char="•"/>
              <a:defRPr sz="1800"/>
            </a:pPr>
            <a:r>
              <a:rPr>
                <a:latin typeface="黑体" charset="0"/>
                <a:ea typeface="黑体" charset="0"/>
                <a:cs typeface="黑体" charset="0"/>
                <a:sym typeface="+mn-ea"/>
              </a:rPr>
              <a:t>低活用户：行为次数 ≤ 372，占 50%</a:t>
            </a:r>
            <a:endParaRPr>
              <a:latin typeface="黑体" charset="0"/>
              <a:ea typeface="黑体" charset="0"/>
              <a:cs typeface="黑体" charset="0"/>
            </a:endParaRPr>
          </a:p>
          <a:p>
            <a:pPr marL="285750" indent="-285750">
              <a:spcAft>
                <a:spcPts val="1200"/>
              </a:spcAft>
              <a:buFont typeface="Arial" panose="020B0604020202090204" pitchFamily="34" charset="0"/>
              <a:buChar char="•"/>
              <a:defRPr sz="1800"/>
            </a:pPr>
            <a:r>
              <a:rPr>
                <a:latin typeface="黑体" charset="0"/>
                <a:ea typeface="黑体" charset="0"/>
                <a:cs typeface="黑体" charset="0"/>
                <a:sym typeface="+mn-ea"/>
              </a:rPr>
              <a:t>中活用户：372 &lt; 行为次数 ≤ 1474，占 40%</a:t>
            </a:r>
            <a:endParaRPr>
              <a:latin typeface="黑体" charset="0"/>
              <a:ea typeface="黑体" charset="0"/>
              <a:cs typeface="黑体" charset="0"/>
            </a:endParaRPr>
          </a:p>
          <a:p>
            <a:pPr marL="285750" indent="-285750">
              <a:spcAft>
                <a:spcPts val="1200"/>
              </a:spcAft>
              <a:buFont typeface="Arial" panose="020B0604020202090204" pitchFamily="34" charset="0"/>
              <a:buChar char="•"/>
              <a:defRPr sz="1800"/>
            </a:pPr>
            <a:r>
              <a:rPr>
                <a:latin typeface="黑体" charset="0"/>
                <a:ea typeface="黑体" charset="0"/>
                <a:cs typeface="黑体" charset="0"/>
                <a:sym typeface="+mn-ea"/>
              </a:rPr>
              <a:t>高活用户：行为次数 &gt; 1474，占 10%</a:t>
            </a:r>
            <a:endParaRPr lang="zh-CN" altLang="en-US">
              <a:latin typeface="黑体" charset="0"/>
              <a:ea typeface="黑体" charset="0"/>
              <a:cs typeface="黑体" charset="0"/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024380" cy="506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rPr>
                <a:latin typeface="黑体" charset="0"/>
                <a:ea typeface="黑体" charset="0"/>
                <a:cs typeface="黑体" charset="0"/>
              </a:rPr>
              <a:t>08 建模</a:t>
            </a:r>
            <a:r>
              <a:rPr lang="en-US">
                <a:latin typeface="黑体" charset="0"/>
                <a:ea typeface="黑体" charset="0"/>
                <a:cs typeface="黑体" charset="0"/>
              </a:rPr>
              <a:t>准备</a:t>
            </a:r>
            <a:endParaRPr lang="en-US"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914400" y="1325880"/>
            <a:ext cx="2560320" cy="1143000"/>
          </a:xfrm>
          <a:prstGeom prst="round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/>
            </a:pPr>
            <a:r>
              <a:t>11/18–12/11</a:t>
            </a:r>
          </a:p>
          <a:p>
            <a:pPr algn="ctr">
              <a:defRPr sz="1100"/>
            </a:pPr>
            <a:r>
              <a:t>特征窗口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54525" y="1325880"/>
            <a:ext cx="2560320" cy="1143000"/>
          </a:xfrm>
          <a:prstGeom prst="round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/>
            </a:pPr>
            <a:r>
              <a:t>12/12–12/18</a:t>
            </a:r>
          </a:p>
          <a:p>
            <a:pPr algn="ctr">
              <a:defRPr sz="1100"/>
            </a:pPr>
            <a:r>
              <a:t>目标窗口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94015" y="1325880"/>
            <a:ext cx="2560320" cy="1143000"/>
          </a:xfrm>
          <a:prstGeom prst="round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/>
            </a:pPr>
            <a:r>
              <a:t>7 : 2 : 1</a:t>
            </a:r>
          </a:p>
          <a:p>
            <a:pPr algn="ctr">
              <a:defRPr sz="1100"/>
            </a:pPr>
            <a:r>
              <a:t>训练/验证/测试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80360"/>
            <a:ext cx="10789920" cy="1229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90204" pitchFamily="34" charset="0"/>
              <a:buChar char="•"/>
              <a:defRPr sz="1800"/>
            </a:pPr>
            <a:r>
              <a:rPr>
                <a:latin typeface="黑体" charset="0"/>
                <a:ea typeface="黑体" charset="0"/>
                <a:cs typeface="黑体" charset="0"/>
              </a:rPr>
              <a:t>仅使用特征窗口计算用户特征，再用未来 7 天数据定义购买标签</a:t>
            </a:r>
            <a:endParaRPr>
              <a:latin typeface="黑体" charset="0"/>
              <a:ea typeface="黑体" charset="0"/>
              <a:cs typeface="黑体" charset="0"/>
            </a:endParaRPr>
          </a:p>
          <a:p>
            <a:pPr marL="285750" indent="-285750">
              <a:spcAft>
                <a:spcPts val="1200"/>
              </a:spcAft>
              <a:buFont typeface="Arial" panose="020B0604020202090204" pitchFamily="34" charset="0"/>
              <a:buChar char="•"/>
              <a:defRPr sz="1800"/>
            </a:pPr>
            <a:r>
              <a:rPr>
                <a:latin typeface="黑体" charset="0"/>
                <a:ea typeface="黑体" charset="0"/>
                <a:cs typeface="黑体" charset="0"/>
              </a:rPr>
              <a:t>目标变量：用户在 12/12–12/18 是否发生购买</a:t>
            </a:r>
            <a:endParaRPr>
              <a:latin typeface="黑体" charset="0"/>
              <a:ea typeface="黑体" charset="0"/>
              <a:cs typeface="黑体" charset="0"/>
            </a:endParaRPr>
          </a:p>
          <a:p>
            <a:pPr marL="285750" indent="-285750">
              <a:spcAft>
                <a:spcPts val="1200"/>
              </a:spcAft>
              <a:buFont typeface="Arial" panose="020B0604020202090204" pitchFamily="34" charset="0"/>
              <a:buChar char="•"/>
              <a:defRPr sz="1800"/>
            </a:pPr>
            <a:r>
              <a:rPr>
                <a:latin typeface="黑体" charset="0"/>
                <a:ea typeface="黑体" charset="0"/>
                <a:cs typeface="黑体" charset="0"/>
              </a:rPr>
              <a:t>分层抽样划分训练集、验证集、测试集，保持类别比例</a:t>
            </a:r>
            <a:r>
              <a:rPr lang="en-US">
                <a:latin typeface="黑体" charset="0"/>
                <a:ea typeface="黑体" charset="0"/>
                <a:cs typeface="黑体" charset="0"/>
              </a:rPr>
              <a:t>7: 2：1</a:t>
            </a:r>
            <a:endParaRPr lang="en-US"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/>
          <p:nvPr/>
        </p:nvPicPr>
        <p:blipFill>
          <a:blip r:embed="rId1"/>
          <a:stretch>
            <a:fillRect/>
          </a:stretch>
        </p:blipFill>
        <p:spPr>
          <a:xfrm>
            <a:off x="1348105" y="826770"/>
            <a:ext cx="9920605" cy="6031230"/>
          </a:xfrm>
          <a:prstGeom prst="rect">
            <a:avLst/>
          </a:prstGeom>
        </p:spPr>
      </p:pic>
      <p:sp>
        <p:nvSpPr>
          <p:cNvPr id="3" name="TextBox 1"/>
          <p:cNvSpPr txBox="1"/>
          <p:nvPr/>
        </p:nvSpPr>
        <p:spPr>
          <a:xfrm>
            <a:off x="594360" y="320040"/>
            <a:ext cx="3742055" cy="506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/>
            </a:pPr>
            <a:r>
              <a:rPr>
                <a:latin typeface="黑体" charset="0"/>
                <a:ea typeface="黑体" charset="0"/>
                <a:cs typeface="黑体" charset="0"/>
              </a:rPr>
              <a:t>0</a:t>
            </a:r>
            <a:r>
              <a:rPr lang="en-US">
                <a:latin typeface="黑体" charset="0"/>
                <a:ea typeface="黑体" charset="0"/>
                <a:cs typeface="黑体" charset="0"/>
              </a:rPr>
              <a:t>9</a:t>
            </a:r>
            <a:r>
              <a:rPr>
                <a:latin typeface="黑体" charset="0"/>
                <a:ea typeface="黑体" charset="0"/>
                <a:cs typeface="黑体" charset="0"/>
              </a:rPr>
              <a:t> </a:t>
            </a:r>
            <a:r>
              <a:rPr>
                <a:latin typeface="黑体" charset="0"/>
                <a:ea typeface="黑体" charset="0"/>
                <a:cs typeface="黑体" charset="0"/>
                <a:sym typeface="+mn-ea"/>
              </a:rPr>
              <a:t>特征工程</a:t>
            </a:r>
            <a:r>
              <a:rPr lang="en-US">
                <a:latin typeface="黑体" charset="0"/>
                <a:ea typeface="黑体" charset="0"/>
                <a:cs typeface="黑体" charset="0"/>
                <a:sym typeface="+mn-ea"/>
              </a:rPr>
              <a:t>：</a:t>
            </a:r>
            <a:r>
              <a:rPr>
                <a:latin typeface="黑体" charset="0"/>
                <a:ea typeface="黑体" charset="0"/>
                <a:cs typeface="黑体" charset="0"/>
              </a:rPr>
              <a:t>特征</a:t>
            </a:r>
            <a:r>
              <a:rPr lang="en-US">
                <a:latin typeface="黑体" charset="0"/>
                <a:ea typeface="黑体" charset="0"/>
                <a:cs typeface="黑体" charset="0"/>
              </a:rPr>
              <a:t>字典</a:t>
            </a:r>
            <a:endParaRPr lang="en-US">
              <a:latin typeface="黑体" charset="0"/>
              <a:ea typeface="黑体" charset="0"/>
              <a:cs typeface="黑体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3742055" cy="506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rPr>
                <a:latin typeface="黑体" charset="0"/>
                <a:ea typeface="黑体" charset="0"/>
                <a:cs typeface="黑体" charset="0"/>
              </a:rPr>
              <a:t>09 特征工程</a:t>
            </a:r>
            <a:r>
              <a:rPr lang="en-US">
                <a:latin typeface="黑体" charset="0"/>
                <a:ea typeface="黑体" charset="0"/>
                <a:cs typeface="黑体" charset="0"/>
              </a:rPr>
              <a:t>：</a:t>
            </a:r>
            <a:r>
              <a:rPr>
                <a:latin typeface="黑体" charset="0"/>
                <a:ea typeface="黑体" charset="0"/>
                <a:cs typeface="黑体" charset="0"/>
              </a:rPr>
              <a:t>特征筛选</a:t>
            </a:r>
            <a:endParaRPr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255651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285750" indent="-285750">
              <a:spcAft>
                <a:spcPts val="1200"/>
              </a:spcAft>
              <a:buFont typeface="Arial" panose="020B0604020202090204" pitchFamily="34" charset="0"/>
              <a:buChar char="•"/>
              <a:defRPr sz="1700"/>
            </a:pPr>
            <a:r>
              <a:rPr>
                <a:latin typeface="黑体" charset="0"/>
                <a:ea typeface="黑体" charset="0"/>
                <a:cs typeface="黑体" charset="0"/>
              </a:rPr>
              <a:t>构建用户行为、RFM、活跃度、转化等多维度特征，并完成标准化与类别变量</a:t>
            </a:r>
            <a:r>
              <a:rPr lang="en-US">
                <a:latin typeface="黑体" charset="0"/>
                <a:ea typeface="黑体" charset="0"/>
                <a:cs typeface="黑体" charset="0"/>
              </a:rPr>
              <a:t>one-hot encoding</a:t>
            </a:r>
            <a:endParaRPr>
              <a:latin typeface="黑体" charset="0"/>
              <a:ea typeface="黑体" charset="0"/>
              <a:cs typeface="黑体" charset="0"/>
            </a:endParaRPr>
          </a:p>
          <a:p>
            <a:pPr marL="285750" indent="-285750">
              <a:spcAft>
                <a:spcPts val="1200"/>
              </a:spcAft>
              <a:buFont typeface="Arial" panose="020B0604020202090204" pitchFamily="34" charset="0"/>
              <a:buChar char="•"/>
              <a:defRPr sz="1700"/>
            </a:pPr>
            <a:r>
              <a:rPr>
                <a:latin typeface="黑体" charset="0"/>
                <a:ea typeface="黑体" charset="0"/>
                <a:cs typeface="黑体" charset="0"/>
              </a:rPr>
              <a:t>相关性分析：删除相关性 &gt; 0.95 的冗余特征</a:t>
            </a:r>
            <a:endParaRPr>
              <a:latin typeface="黑体" charset="0"/>
              <a:ea typeface="黑体" charset="0"/>
              <a:cs typeface="黑体" charset="0"/>
            </a:endParaRPr>
          </a:p>
          <a:p>
            <a:pPr marL="742950" lvl="1" indent="-285750">
              <a:spcAft>
                <a:spcPts val="600"/>
              </a:spcAft>
              <a:buFont typeface="Arial" panose="020B0604020202090204" pitchFamily="34" charset="0"/>
              <a:buChar char="•"/>
              <a:defRPr sz="1500"/>
            </a:pPr>
            <a:r>
              <a:rPr>
                <a:latin typeface="黑体" charset="0"/>
                <a:ea typeface="黑体" charset="0"/>
                <a:cs typeface="黑体" charset="0"/>
              </a:rPr>
              <a:t>删除 churn_interval、view_count、preference_score，保留 recency</a:t>
            </a:r>
            <a:endParaRPr>
              <a:latin typeface="黑体" charset="0"/>
              <a:ea typeface="黑体" charset="0"/>
              <a:cs typeface="黑体" charset="0"/>
            </a:endParaRPr>
          </a:p>
          <a:p>
            <a:pPr marL="742950" lvl="1" indent="-285750">
              <a:spcAft>
                <a:spcPts val="600"/>
              </a:spcAft>
              <a:buFont typeface="Arial" panose="020B0604020202090204" pitchFamily="34" charset="0"/>
              <a:buChar char="•"/>
              <a:defRPr sz="1500"/>
            </a:pPr>
            <a:r>
              <a:rPr>
                <a:latin typeface="黑体" charset="0"/>
                <a:ea typeface="黑体" charset="0"/>
                <a:cs typeface="黑体" charset="0"/>
              </a:rPr>
              <a:t>删除 buy_count，因为与 monetary（购买次数）定义重复</a:t>
            </a:r>
            <a:endParaRPr>
              <a:latin typeface="黑体" charset="0"/>
              <a:ea typeface="黑体" charset="0"/>
              <a:cs typeface="黑体" charset="0"/>
            </a:endParaRPr>
          </a:p>
          <a:p>
            <a:pPr marL="285750" indent="-285750">
              <a:spcAft>
                <a:spcPts val="1200"/>
              </a:spcAft>
              <a:buFont typeface="Arial" panose="020B0604020202090204" pitchFamily="34" charset="0"/>
              <a:buChar char="•"/>
              <a:defRPr sz="1700"/>
            </a:pPr>
            <a:r>
              <a:rPr>
                <a:latin typeface="黑体" charset="0"/>
                <a:ea typeface="黑体" charset="0"/>
                <a:cs typeface="黑体" charset="0"/>
              </a:rPr>
              <a:t>互信息结果：monetary 预测力最高，其次为 rfm_score；多个 SVD 隐向量也具有预测价值</a:t>
            </a:r>
            <a:endParaRPr>
              <a:latin typeface="黑体" charset="0"/>
              <a:ea typeface="黑体" charset="0"/>
              <a:cs typeface="黑体" charset="0"/>
            </a:endParaRPr>
          </a:p>
          <a:p>
            <a:pPr marL="285750" indent="-285750">
              <a:spcAft>
                <a:spcPts val="1200"/>
              </a:spcAft>
              <a:buFont typeface="Arial" panose="020B0604020202090204" pitchFamily="34" charset="0"/>
              <a:buChar char="•"/>
              <a:defRPr sz="1700"/>
            </a:pPr>
            <a:r>
              <a:rPr>
                <a:latin typeface="黑体" charset="0"/>
                <a:ea typeface="黑体" charset="0"/>
                <a:cs typeface="黑体" charset="0"/>
              </a:rPr>
              <a:t>favorite_count 的互信息最低，但没有特征低于 0.01，因此无需进一步删除</a:t>
            </a:r>
            <a:endParaRPr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3398520" cy="506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rPr>
                <a:latin typeface="黑体" charset="0"/>
                <a:ea typeface="黑体" charset="0"/>
                <a:cs typeface="黑体" charset="0"/>
              </a:rPr>
              <a:t>10 传统机器学习</a:t>
            </a:r>
            <a:r>
              <a:rPr lang="en-US">
                <a:latin typeface="黑体" charset="0"/>
                <a:ea typeface="黑体" charset="0"/>
                <a:cs typeface="黑体" charset="0"/>
              </a:rPr>
              <a:t>模型</a:t>
            </a:r>
            <a:endParaRPr lang="en-US"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5126355"/>
            <a:ext cx="10789920" cy="1091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90204" pitchFamily="34" charset="0"/>
              <a:buChar char="•"/>
              <a:defRPr sz="1500"/>
            </a:pPr>
            <a:r>
              <a:rPr>
                <a:latin typeface="黑体" charset="0"/>
                <a:ea typeface="黑体" charset="0"/>
                <a:cs typeface="黑体" charset="0"/>
              </a:rPr>
              <a:t>通过 Optuna 进行超参数自动调优</a:t>
            </a:r>
            <a:endParaRPr>
              <a:latin typeface="黑体" charset="0"/>
              <a:ea typeface="黑体" charset="0"/>
              <a:cs typeface="黑体" charset="0"/>
            </a:endParaRPr>
          </a:p>
          <a:p>
            <a:pPr marL="285750" indent="-285750">
              <a:spcAft>
                <a:spcPts val="1200"/>
              </a:spcAft>
              <a:buFont typeface="Arial" panose="020B0604020202090204" pitchFamily="34" charset="0"/>
              <a:buChar char="•"/>
              <a:defRPr sz="1500"/>
            </a:pPr>
            <a:r>
              <a:rPr>
                <a:latin typeface="黑体" charset="0"/>
                <a:ea typeface="黑体" charset="0"/>
                <a:cs typeface="黑体" charset="0"/>
              </a:rPr>
              <a:t>三个模型 AUC 均未超过 0.80，差距小于 0.01，说明在当前数据规模与特征体系下，模型复杂度带来的提升有限</a:t>
            </a:r>
            <a:endParaRPr>
              <a:latin typeface="黑体" charset="0"/>
              <a:ea typeface="黑体" charset="0"/>
              <a:cs typeface="黑体" charset="0"/>
            </a:endParaRPr>
          </a:p>
          <a:p>
            <a:pPr marL="285750" indent="-285750">
              <a:spcAft>
                <a:spcPts val="1200"/>
              </a:spcAft>
              <a:buFont typeface="Arial" panose="020B0604020202090204" pitchFamily="34" charset="0"/>
              <a:buChar char="•"/>
              <a:defRPr sz="1500"/>
            </a:pPr>
            <a:r>
              <a:rPr>
                <a:latin typeface="黑体" charset="0"/>
                <a:ea typeface="黑体" charset="0"/>
                <a:cs typeface="黑体" charset="0"/>
              </a:rPr>
              <a:t>LightGBM 的 F1 最高；逻辑回归更偏向于提升召回</a:t>
            </a:r>
            <a:endParaRPr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11</a:t>
            </a:r>
          </a:p>
        </p:txBody>
      </p:sp>
      <p:pic>
        <p:nvPicPr>
          <p:cNvPr id="6" name="图片 5"/>
          <p:cNvPicPr/>
          <p:nvPr/>
        </p:nvPicPr>
        <p:blipFill>
          <a:blip r:embed="rId1"/>
          <a:stretch>
            <a:fillRect/>
          </a:stretch>
        </p:blipFill>
        <p:spPr>
          <a:xfrm>
            <a:off x="497999" y="2266791"/>
            <a:ext cx="6274117" cy="902017"/>
          </a:xfrm>
          <a:prstGeom prst="rect">
            <a:avLst/>
          </a:prstGeom>
        </p:spPr>
      </p:pic>
      <p:pic>
        <p:nvPicPr>
          <p:cNvPr id="7" name="图片 6"/>
          <p:cNvPicPr/>
          <p:nvPr/>
        </p:nvPicPr>
        <p:blipFill>
          <a:blip r:embed="rId2"/>
          <a:stretch>
            <a:fillRect/>
          </a:stretch>
        </p:blipFill>
        <p:spPr>
          <a:xfrm>
            <a:off x="6250940" y="320040"/>
            <a:ext cx="5426710" cy="490664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206875" cy="506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rPr>
                <a:latin typeface="黑体" charset="0"/>
                <a:ea typeface="黑体" charset="0"/>
                <a:cs typeface="黑体" charset="0"/>
              </a:rPr>
              <a:t>11 深度学习：GRU 与 DIN</a:t>
            </a:r>
            <a:endParaRPr>
              <a:latin typeface="黑体" charset="0"/>
              <a:ea typeface="黑体" charset="0"/>
              <a:cs typeface="黑体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417320"/>
          <a:ext cx="107899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6640"/>
                <a:gridCol w="3596640"/>
                <a:gridCol w="3596640"/>
              </a:tblGrid>
              <a:tr h="762000"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模型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核心设计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结果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GRU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最近 20 次行为序列；Embedding 商品ID与行为类型</a:t>
                      </a:r>
                      <a:r>
                        <a:rPr lang="en-US"/>
                        <a:t>；三轮AUC不提升则早停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最优 AUC = 0.5596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DIN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Embedding + Self-Attention + 残差/层归一化</a:t>
                      </a:r>
                      <a:r>
                        <a:rPr lang="en-US"/>
                        <a:t>；</a:t>
                      </a:r>
                      <a:r>
                        <a:rPr lang="en-US" sz="1300">
                          <a:sym typeface="+mn-ea"/>
                        </a:rPr>
                        <a:t>三轮AUC不提升则早停</a:t>
                      </a:r>
                      <a:endParaRPr lang="en-US" sz="1300"/>
                    </a:p>
                    <a:p>
                      <a:pPr>
                        <a:defRPr sz="1300"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验证集最佳 AUC = 0.5810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4023360"/>
            <a:ext cx="10789920" cy="737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90204" pitchFamily="34" charset="0"/>
              <a:buChar char="•"/>
              <a:defRPr sz="1600"/>
            </a:pPr>
            <a:r>
              <a:rPr>
                <a:latin typeface="黑体" charset="0"/>
                <a:ea typeface="黑体" charset="0"/>
                <a:cs typeface="黑体" charset="0"/>
              </a:rPr>
              <a:t>深度模型明显低于传统机器学习模型</a:t>
            </a:r>
            <a:endParaRPr>
              <a:latin typeface="黑体" charset="0"/>
              <a:ea typeface="黑体" charset="0"/>
              <a:cs typeface="黑体" charset="0"/>
            </a:endParaRPr>
          </a:p>
          <a:p>
            <a:pPr marL="285750" indent="-285750">
              <a:spcAft>
                <a:spcPts val="1200"/>
              </a:spcAft>
              <a:buFont typeface="Arial" panose="020B0604020202090204" pitchFamily="34" charset="0"/>
              <a:buChar char="•"/>
              <a:defRPr sz="1600"/>
            </a:pPr>
            <a:r>
              <a:rPr>
                <a:latin typeface="黑体" charset="0"/>
                <a:ea typeface="黑体" charset="0"/>
                <a:cs typeface="黑体" charset="0"/>
              </a:rPr>
              <a:t>可能原因：序列信息本身预测力弱；训练样本仅约 6932 条，难以支撑复杂深度模型，存在过拟合</a:t>
            </a:r>
            <a:endParaRPr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078355" cy="506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rPr>
                <a:latin typeface="黑体" charset="0"/>
                <a:ea typeface="黑体" charset="0"/>
                <a:cs typeface="黑体" charset="0"/>
              </a:rPr>
              <a:t>12 Stacking</a:t>
            </a:r>
            <a:endParaRPr lang="en-US"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1188720" y="1417320"/>
            <a:ext cx="2560320" cy="1143000"/>
          </a:xfrm>
          <a:prstGeom prst="round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/>
            </a:pPr>
            <a:r>
              <a:t>LR + XGBoost</a:t>
            </a:r>
          </a:p>
          <a:p>
            <a:pPr algn="ctr">
              <a:defRPr sz="1100"/>
            </a:pPr>
            <a:r>
              <a:t>第一层基模型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800600" y="1417320"/>
            <a:ext cx="2560320" cy="1143000"/>
          </a:xfrm>
          <a:prstGeom prst="round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/>
            </a:pPr>
            <a:r>
              <a:t>5折分层</a:t>
            </a:r>
          </a:p>
          <a:p>
            <a:pPr algn="ctr">
              <a:defRPr sz="1100"/>
            </a:pPr>
            <a:r>
              <a:t>OOF预测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0" y="1417320"/>
            <a:ext cx="2560320" cy="1143000"/>
          </a:xfrm>
          <a:prstGeom prst="round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/>
            </a:pPr>
            <a:r>
              <a:t>0.7729</a:t>
            </a:r>
          </a:p>
          <a:p>
            <a:pPr algn="ctr">
              <a:defRPr sz="1100"/>
            </a:pPr>
            <a:r>
              <a:t>Stacking AUC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63240"/>
            <a:ext cx="10789920" cy="2522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90204" pitchFamily="34" charset="0"/>
              <a:buChar char="•"/>
              <a:defRPr sz="1800"/>
            </a:pPr>
            <a:r>
              <a:rPr>
                <a:latin typeface="黑体" charset="0"/>
                <a:ea typeface="黑体" charset="0"/>
                <a:cs typeface="黑体" charset="0"/>
              </a:rPr>
              <a:t>使用第一层模型预测概率作为第二层逻辑回归的输入</a:t>
            </a:r>
            <a:endParaRPr>
              <a:latin typeface="黑体" charset="0"/>
              <a:ea typeface="黑体" charset="0"/>
              <a:cs typeface="黑体" charset="0"/>
            </a:endParaRPr>
          </a:p>
          <a:p>
            <a:pPr marL="285750" indent="-285750">
              <a:spcAft>
                <a:spcPts val="1200"/>
              </a:spcAft>
              <a:buFont typeface="Arial" panose="020B0604020202090204" pitchFamily="34" charset="0"/>
              <a:buChar char="•"/>
              <a:defRPr sz="1800"/>
            </a:pPr>
            <a:r>
              <a:rPr>
                <a:latin typeface="黑体" charset="0"/>
                <a:ea typeface="黑体" charset="0"/>
                <a:cs typeface="黑体" charset="0"/>
              </a:rPr>
              <a:t>Stacking AUC = 0.7729，处于基础模型之间，未超过最优基础模型</a:t>
            </a:r>
            <a:endParaRPr>
              <a:latin typeface="黑体" charset="0"/>
              <a:ea typeface="黑体" charset="0"/>
              <a:cs typeface="黑体" charset="0"/>
            </a:endParaRPr>
          </a:p>
          <a:p>
            <a:pPr marL="285750" indent="-285750">
              <a:spcAft>
                <a:spcPts val="1200"/>
              </a:spcAft>
              <a:buFont typeface="Arial" panose="020B0604020202090204" pitchFamily="34" charset="0"/>
              <a:buChar char="•"/>
              <a:defRPr sz="1800"/>
            </a:pPr>
            <a:endParaRPr lang="en-US">
              <a:latin typeface="黑体" charset="0"/>
              <a:ea typeface="黑体" charset="0"/>
              <a:cs typeface="黑体" charset="0"/>
            </a:endParaRPr>
          </a:p>
          <a:p>
            <a:pPr marL="285750" indent="-285750">
              <a:spcAft>
                <a:spcPts val="1200"/>
              </a:spcAft>
              <a:buFont typeface="Arial" panose="020B0604020202090204" pitchFamily="34" charset="0"/>
              <a:buChar char="•"/>
              <a:defRPr sz="1800"/>
            </a:pPr>
            <a:r>
              <a:rPr lang="en-US">
                <a:latin typeface="黑体" charset="0"/>
                <a:ea typeface="黑体" charset="0"/>
                <a:cs typeface="黑体" charset="0"/>
              </a:rPr>
              <a:t>可能原因：</a:t>
            </a:r>
            <a:endParaRPr lang="en-US">
              <a:latin typeface="黑体" charset="0"/>
              <a:ea typeface="黑体" charset="0"/>
              <a:cs typeface="黑体" charset="0"/>
            </a:endParaRPr>
          </a:p>
          <a:p>
            <a:pPr indent="0">
              <a:spcAft>
                <a:spcPts val="1200"/>
              </a:spcAft>
              <a:buFont typeface="Arial" panose="020B0604020202090204" pitchFamily="34" charset="0"/>
              <a:buNone/>
              <a:defRPr sz="1800"/>
            </a:pPr>
            <a:r>
              <a:rPr>
                <a:latin typeface="黑体" charset="0"/>
                <a:ea typeface="黑体" charset="0"/>
                <a:cs typeface="黑体" charset="0"/>
              </a:rPr>
              <a:t>LR 与 XGBoost 表现高度相似，模型之间可互补的信息有限</a:t>
            </a:r>
            <a:endParaRPr>
              <a:latin typeface="黑体" charset="0"/>
              <a:ea typeface="黑体" charset="0"/>
              <a:cs typeface="黑体" charset="0"/>
            </a:endParaRPr>
          </a:p>
          <a:p>
            <a:pPr indent="0">
              <a:spcAft>
                <a:spcPts val="1200"/>
              </a:spcAft>
              <a:buFont typeface="Arial" panose="020B0604020202090204" pitchFamily="34" charset="0"/>
              <a:buNone/>
              <a:defRPr sz="1800"/>
            </a:pPr>
            <a:r>
              <a:rPr>
                <a:latin typeface="黑体" charset="0"/>
                <a:ea typeface="黑体" charset="0"/>
                <a:cs typeface="黑体" charset="0"/>
              </a:rPr>
              <a:t>数据规模较小，融合模型的优化空间有限</a:t>
            </a:r>
            <a:endParaRPr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711450" cy="506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rPr>
                <a:latin typeface="黑体" charset="0"/>
                <a:ea typeface="黑体" charset="0"/>
                <a:cs typeface="黑体" charset="0"/>
              </a:rPr>
              <a:t>14 用户运营</a:t>
            </a:r>
            <a:r>
              <a:rPr lang="en-US">
                <a:latin typeface="黑体" charset="0"/>
                <a:ea typeface="黑体" charset="0"/>
                <a:cs typeface="黑体" charset="0"/>
              </a:rPr>
              <a:t>建议</a:t>
            </a:r>
            <a:endParaRPr lang="en-US">
              <a:latin typeface="黑体" charset="0"/>
              <a:ea typeface="黑体" charset="0"/>
              <a:cs typeface="黑体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29260" y="1635760"/>
          <a:ext cx="11229340" cy="3068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92220"/>
                <a:gridCol w="3718560"/>
                <a:gridCol w="3718560"/>
              </a:tblGrid>
              <a:tr h="400050"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rPr sz="1600">
                          <a:latin typeface="黑体" charset="0"/>
                          <a:ea typeface="黑体" charset="0"/>
                          <a:cs typeface="黑体" charset="0"/>
                        </a:rPr>
                        <a:t>预测/实际</a:t>
                      </a:r>
                      <a:endParaRPr sz="1600">
                        <a:latin typeface="黑体" charset="0"/>
                        <a:ea typeface="黑体" charset="0"/>
                        <a:cs typeface="黑体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rPr sz="1600">
                          <a:latin typeface="黑体" charset="0"/>
                          <a:ea typeface="黑体" charset="0"/>
                        </a:rPr>
                        <a:t>业务含义</a:t>
                      </a:r>
                      <a:endParaRPr sz="1600">
                        <a:latin typeface="黑体" charset="0"/>
                        <a:ea typeface="黑体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rPr sz="1600">
                          <a:latin typeface="黑体" charset="0"/>
                          <a:ea typeface="黑体" charset="0"/>
                        </a:rPr>
                        <a:t>建议</a:t>
                      </a:r>
                      <a:endParaRPr sz="1600">
                        <a:latin typeface="黑体" charset="0"/>
                        <a:ea typeface="黑体" charset="0"/>
                      </a:endParaRPr>
                    </a:p>
                  </a:txBody>
                  <a:tcPr/>
                </a:tc>
              </a:tr>
              <a:tr h="59944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600">
                          <a:latin typeface="黑体" charset="0"/>
                          <a:ea typeface="黑体" charset="0"/>
                          <a:cs typeface="黑体" charset="0"/>
                        </a:rPr>
                        <a:t>预测买 / 实际买</a:t>
                      </a:r>
                      <a:endParaRPr sz="1600">
                        <a:latin typeface="黑体" charset="0"/>
                        <a:ea typeface="黑体" charset="0"/>
                        <a:cs typeface="黑体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600">
                          <a:latin typeface="黑体" charset="0"/>
                          <a:ea typeface="黑体" charset="0"/>
                        </a:rPr>
                        <a:t>高意向用户</a:t>
                      </a:r>
                      <a:endParaRPr sz="1600">
                        <a:latin typeface="黑体" charset="0"/>
                        <a:ea typeface="黑体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600">
                          <a:latin typeface="黑体" charset="0"/>
                          <a:ea typeface="黑体" charset="0"/>
                        </a:rPr>
                        <a:t>精准营销、优惠券发放</a:t>
                      </a:r>
                      <a:endParaRPr sz="1600">
                        <a:latin typeface="黑体" charset="0"/>
                        <a:ea typeface="黑体" charset="0"/>
                      </a:endParaRPr>
                    </a:p>
                  </a:txBody>
                  <a:tcPr/>
                </a:tc>
              </a:tr>
              <a:tr h="697865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600">
                          <a:latin typeface="黑体" charset="0"/>
                          <a:ea typeface="黑体" charset="0"/>
                          <a:cs typeface="黑体" charset="0"/>
                        </a:rPr>
                        <a:t>预测不买 / 实际不买</a:t>
                      </a:r>
                      <a:endParaRPr sz="1600">
                        <a:latin typeface="黑体" charset="0"/>
                        <a:ea typeface="黑体" charset="0"/>
                        <a:cs typeface="黑体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600">
                          <a:latin typeface="黑体" charset="0"/>
                          <a:ea typeface="黑体" charset="0"/>
                        </a:rPr>
                        <a:t>低意向用户</a:t>
                      </a:r>
                      <a:endParaRPr sz="1600">
                        <a:latin typeface="黑体" charset="0"/>
                        <a:ea typeface="黑体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600">
                          <a:latin typeface="黑体" charset="0"/>
                          <a:ea typeface="黑体" charset="0"/>
                        </a:rPr>
                        <a:t>低成本唤醒，控制资源投入</a:t>
                      </a:r>
                      <a:endParaRPr sz="1600">
                        <a:latin typeface="黑体" charset="0"/>
                        <a:ea typeface="黑体" charset="0"/>
                      </a:endParaRPr>
                    </a:p>
                  </a:txBody>
                  <a:tcPr/>
                </a:tc>
              </a:tr>
              <a:tr h="747395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600">
                          <a:latin typeface="黑体" charset="0"/>
                          <a:ea typeface="黑体" charset="0"/>
                          <a:cs typeface="黑体" charset="0"/>
                        </a:rPr>
                        <a:t>预测买 / 实际不买</a:t>
                      </a:r>
                      <a:endParaRPr sz="1600">
                        <a:latin typeface="黑体" charset="0"/>
                        <a:ea typeface="黑体" charset="0"/>
                        <a:cs typeface="黑体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600">
                          <a:latin typeface="黑体" charset="0"/>
                          <a:ea typeface="黑体" charset="0"/>
                        </a:rPr>
                        <a:t>有兴趣但未转化</a:t>
                      </a:r>
                      <a:endParaRPr sz="1600">
                        <a:latin typeface="黑体" charset="0"/>
                        <a:ea typeface="黑体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600">
                          <a:latin typeface="黑体" charset="0"/>
                          <a:ea typeface="黑体" charset="0"/>
                        </a:rPr>
                        <a:t>定向优惠、限时折扣、购物车提醒</a:t>
                      </a:r>
                      <a:endParaRPr sz="1600">
                        <a:latin typeface="黑体" charset="0"/>
                        <a:ea typeface="黑体" charset="0"/>
                      </a:endParaRPr>
                    </a:p>
                  </a:txBody>
                  <a:tcPr/>
                </a:tc>
              </a:tr>
              <a:tr h="62357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600">
                          <a:latin typeface="黑体" charset="0"/>
                          <a:ea typeface="黑体" charset="0"/>
                          <a:cs typeface="黑体" charset="0"/>
                        </a:rPr>
                        <a:t>预测不买 / 实际买</a:t>
                      </a:r>
                      <a:endParaRPr sz="1600">
                        <a:latin typeface="黑体" charset="0"/>
                        <a:ea typeface="黑体" charset="0"/>
                        <a:cs typeface="黑体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600">
                          <a:latin typeface="黑体" charset="0"/>
                          <a:ea typeface="黑体" charset="0"/>
                        </a:rPr>
                        <a:t>模型遗漏的潜在购买模式</a:t>
                      </a:r>
                      <a:endParaRPr sz="1600">
                        <a:latin typeface="黑体" charset="0"/>
                        <a:ea typeface="黑体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600">
                          <a:latin typeface="黑体" charset="0"/>
                          <a:ea typeface="黑体" charset="0"/>
                        </a:rPr>
                        <a:t>研究行为特征与商品类别，优化特征工程</a:t>
                      </a:r>
                      <a:endParaRPr sz="1600">
                        <a:latin typeface="黑体" charset="0"/>
                        <a:ea typeface="黑体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304790" cy="506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rPr>
                <a:latin typeface="黑体" charset="0"/>
                <a:ea typeface="黑体" charset="0"/>
                <a:cs typeface="黑体" charset="0"/>
              </a:rPr>
              <a:t>15 A/B Testing 模拟：优惠券挽回</a:t>
            </a:r>
            <a:endParaRPr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747520"/>
            <a:ext cx="10789920" cy="3384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90204" pitchFamily="34" charset="0"/>
              <a:buChar char="•"/>
              <a:defRPr sz="1500"/>
            </a:pPr>
            <a:r>
              <a:rPr sz="1800"/>
              <a:t>对照组：不投放优惠券</a:t>
            </a:r>
            <a:endParaRPr sz="1800"/>
          </a:p>
          <a:p>
            <a:pPr marL="285750" indent="-285750">
              <a:spcAft>
                <a:spcPts val="1200"/>
              </a:spcAft>
              <a:buFont typeface="Arial" panose="020B0604020202090204" pitchFamily="34" charset="0"/>
              <a:buChar char="•"/>
              <a:defRPr sz="1500"/>
            </a:pPr>
            <a:r>
              <a:rPr sz="1800"/>
              <a:t>实验组：向预测不购买用户投放优惠券</a:t>
            </a:r>
            <a:endParaRPr sz="1800"/>
          </a:p>
          <a:p>
            <a:pPr marL="285750" indent="-285750">
              <a:spcAft>
                <a:spcPts val="1200"/>
              </a:spcAft>
              <a:buFont typeface="Arial" panose="020B0604020202090204" pitchFamily="34" charset="0"/>
              <a:buChar char="•"/>
              <a:defRPr sz="1500"/>
            </a:pPr>
            <a:r>
              <a:rPr sz="1800"/>
              <a:t>假设客单价 100 元、单张券成本 30 元</a:t>
            </a:r>
            <a:endParaRPr sz="1800"/>
          </a:p>
          <a:p>
            <a:pPr marL="285750" indent="-285750">
              <a:spcAft>
                <a:spcPts val="1200"/>
              </a:spcAft>
              <a:buFont typeface="Arial" panose="020B0604020202090204" pitchFamily="34" charset="0"/>
              <a:buChar char="•"/>
              <a:defRPr sz="1500"/>
            </a:pPr>
            <a:endParaRPr sz="1800"/>
          </a:p>
          <a:p>
            <a:pPr marL="285750" indent="-285750">
              <a:spcAft>
                <a:spcPts val="1200"/>
              </a:spcAft>
              <a:buFont typeface="Arial" panose="020B0604020202090204" pitchFamily="34" charset="0"/>
              <a:buChar char="•"/>
              <a:defRPr sz="1500"/>
            </a:pPr>
            <a:endParaRPr sz="1800"/>
          </a:p>
          <a:p>
            <a:pPr marL="285750" indent="-285750">
              <a:spcAft>
                <a:spcPts val="1200"/>
              </a:spcAft>
              <a:buFont typeface="Arial" panose="020B0604020202090204" pitchFamily="34" charset="0"/>
              <a:buChar char="•"/>
              <a:defRPr sz="1500"/>
            </a:pPr>
            <a:r>
              <a:rPr sz="1800"/>
              <a:t>购买人数由 75 人提升至 155 人，增幅 107%</a:t>
            </a:r>
            <a:endParaRPr sz="1800"/>
          </a:p>
          <a:p>
            <a:pPr marL="285750" indent="-285750">
              <a:spcAft>
                <a:spcPts val="1200"/>
              </a:spcAft>
              <a:buFont typeface="Arial" panose="020B0604020202090204" pitchFamily="34" charset="0"/>
              <a:buChar char="•"/>
              <a:defRPr sz="1500"/>
            </a:pPr>
            <a:r>
              <a:rPr sz="1800"/>
              <a:t>实验组净利润 8,480 元，比对照组增加 980 元</a:t>
            </a:r>
            <a:endParaRPr sz="1800"/>
          </a:p>
          <a:p>
            <a:pPr marL="285750" indent="-285750">
              <a:spcAft>
                <a:spcPts val="1200"/>
              </a:spcAft>
              <a:buFont typeface="Arial" panose="020B0604020202090204" pitchFamily="34" charset="0"/>
              <a:buChar char="•"/>
              <a:defRPr sz="1500"/>
            </a:pPr>
            <a:r>
              <a:rPr sz="1800"/>
              <a:t>30% 挽回率时达到盈亏平衡；实际运营中还可按用户分群进一步精准投放</a:t>
            </a:r>
            <a:endParaRPr sz="1800"/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16</a:t>
            </a:r>
          </a:p>
        </p:txBody>
      </p:sp>
      <p:sp>
        <p:nvSpPr>
          <p:cNvPr id="10" name="下箭头 9"/>
          <p:cNvSpPr/>
          <p:nvPr/>
        </p:nvSpPr>
        <p:spPr>
          <a:xfrm>
            <a:off x="1675130" y="3086735"/>
            <a:ext cx="582295" cy="706755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2563495" y="3282950"/>
            <a:ext cx="60960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defRPr sz="1300"/>
            </a:pPr>
            <a:r>
              <a:rPr lang="en-US" altLang="en-US" sz="160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黑体" charset="0"/>
                <a:ea typeface="黑体" charset="0"/>
                <a:sym typeface="+mn-ea"/>
              </a:rPr>
              <a:t>模拟结果</a:t>
            </a:r>
            <a:endParaRPr lang="en-US" altLang="en-US" sz="1600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latin typeface="黑体" charset="0"/>
              <a:ea typeface="黑体" charset="0"/>
              <a:sym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7444105" cy="506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rPr>
                <a:latin typeface="黑体" charset="0"/>
                <a:ea typeface="黑体" charset="0"/>
                <a:cs typeface="黑体" charset="0"/>
              </a:rPr>
              <a:t>13 </a:t>
            </a:r>
            <a:r>
              <a:rPr lang="en-US">
                <a:latin typeface="黑体" charset="0"/>
                <a:ea typeface="黑体" charset="0"/>
                <a:cs typeface="黑体" charset="0"/>
              </a:rPr>
              <a:t>LR+XGBoost</a:t>
            </a:r>
            <a:r>
              <a:rPr>
                <a:latin typeface="黑体" charset="0"/>
                <a:ea typeface="黑体" charset="0"/>
                <a:cs typeface="黑体" charset="0"/>
              </a:rPr>
              <a:t>模型可解释性：谁更可能购买？</a:t>
            </a:r>
            <a:endParaRPr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2430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90204" pitchFamily="34" charset="0"/>
              <a:buChar char="•"/>
              <a:defRPr sz="1700"/>
            </a:pPr>
            <a:r>
              <a:rPr>
                <a:latin typeface="黑体" charset="0"/>
                <a:ea typeface="黑体" charset="0"/>
                <a:cs typeface="黑体" charset="0"/>
              </a:rPr>
              <a:t>购买次数（monetary）是最重要的预测因素：历史购买越多，未来 7 天越可能购买</a:t>
            </a:r>
            <a:endParaRPr>
              <a:latin typeface="黑体" charset="0"/>
              <a:ea typeface="黑体" charset="0"/>
              <a:cs typeface="黑体" charset="0"/>
            </a:endParaRPr>
          </a:p>
          <a:p>
            <a:pPr marL="285750" indent="-285750">
              <a:spcAft>
                <a:spcPts val="1200"/>
              </a:spcAft>
              <a:buFont typeface="Arial" panose="020B0604020202090204" pitchFamily="34" charset="0"/>
              <a:buChar char="•"/>
              <a:defRPr sz="1700"/>
            </a:pPr>
            <a:r>
              <a:rPr>
                <a:latin typeface="黑体" charset="0"/>
                <a:ea typeface="黑体" charset="0"/>
                <a:cs typeface="黑体" charset="0"/>
              </a:rPr>
              <a:t>RFM score 与未来购买呈明显正向关系</a:t>
            </a:r>
            <a:endParaRPr>
              <a:latin typeface="黑体" charset="0"/>
              <a:ea typeface="黑体" charset="0"/>
              <a:cs typeface="黑体" charset="0"/>
            </a:endParaRPr>
          </a:p>
          <a:p>
            <a:pPr marL="285750" indent="-285750">
              <a:spcAft>
                <a:spcPts val="1200"/>
              </a:spcAft>
              <a:buFont typeface="Arial" panose="020B0604020202090204" pitchFamily="34" charset="0"/>
              <a:buChar char="•"/>
              <a:defRPr sz="1700"/>
            </a:pPr>
            <a:r>
              <a:rPr>
                <a:latin typeface="黑体" charset="0"/>
                <a:ea typeface="黑体" charset="0"/>
                <a:cs typeface="黑体" charset="0"/>
              </a:rPr>
              <a:t>recency 越大代表越不活跃，未来购买可能性越低</a:t>
            </a:r>
            <a:endParaRPr>
              <a:latin typeface="黑体" charset="0"/>
              <a:ea typeface="黑体" charset="0"/>
              <a:cs typeface="黑体" charset="0"/>
            </a:endParaRPr>
          </a:p>
          <a:p>
            <a:pPr marL="285750" indent="-285750">
              <a:spcAft>
                <a:spcPts val="1200"/>
              </a:spcAft>
              <a:buFont typeface="Arial" panose="020B0604020202090204" pitchFamily="34" charset="0"/>
              <a:buChar char="•"/>
              <a:defRPr sz="1700"/>
            </a:pPr>
            <a:r>
              <a:rPr>
                <a:latin typeface="黑体" charset="0"/>
                <a:ea typeface="黑体" charset="0"/>
                <a:cs typeface="黑体" charset="0"/>
              </a:rPr>
              <a:t>连续活跃天数、活跃度等特征也与未来购买正相关</a:t>
            </a:r>
            <a:endParaRPr>
              <a:latin typeface="黑体" charset="0"/>
              <a:ea typeface="黑体" charset="0"/>
              <a:cs typeface="黑体" charset="0"/>
            </a:endParaRPr>
          </a:p>
          <a:p>
            <a:pPr marL="285750" indent="-285750">
              <a:spcAft>
                <a:spcPts val="1200"/>
              </a:spcAft>
              <a:buFont typeface="Arial" panose="020B0604020202090204" pitchFamily="34" charset="0"/>
              <a:buChar char="•"/>
              <a:defRPr sz="1700"/>
            </a:pPr>
            <a:r>
              <a:rPr>
                <a:latin typeface="黑体" charset="0"/>
                <a:ea typeface="黑体" charset="0"/>
                <a:cs typeface="黑体" charset="0"/>
              </a:rPr>
              <a:t>高浏览→加购转化率、更多加购次数、更丰富的交互类目，均对应更高购买可能</a:t>
            </a:r>
            <a:endParaRPr>
              <a:latin typeface="黑体" charset="0"/>
              <a:ea typeface="黑体" charset="0"/>
              <a:cs typeface="黑体" charset="0"/>
            </a:endParaRPr>
          </a:p>
          <a:p>
            <a:pPr marL="285750" indent="-285750">
              <a:spcAft>
                <a:spcPts val="1200"/>
              </a:spcAft>
              <a:buFont typeface="Arial" panose="020B0604020202090204" pitchFamily="34" charset="0"/>
              <a:buChar char="•"/>
              <a:defRPr sz="1700"/>
            </a:pPr>
            <a:r>
              <a:rPr>
                <a:latin typeface="黑体" charset="0"/>
                <a:ea typeface="黑体" charset="0"/>
                <a:cs typeface="黑体" charset="0"/>
              </a:rPr>
              <a:t>LR 系数与 XGBoost SHAP 的结论整体一致，说明核心购买决策信号较稳定</a:t>
            </a:r>
            <a:endParaRPr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3549015" cy="506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rPr>
                <a:latin typeface="黑体" charset="0"/>
                <a:ea typeface="黑体" charset="0"/>
                <a:cs typeface="黑体" charset="0"/>
              </a:rPr>
              <a:t>16 项目局限</a:t>
            </a:r>
            <a:r>
              <a:rPr lang="en-US">
                <a:latin typeface="黑体" charset="0"/>
                <a:ea typeface="黑体" charset="0"/>
                <a:cs typeface="黑体" charset="0"/>
              </a:rPr>
              <a:t>/优化空间</a:t>
            </a:r>
            <a:endParaRPr lang="en-US"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2014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90204" pitchFamily="34" charset="0"/>
              <a:buChar char="•"/>
              <a:defRPr sz="1700"/>
            </a:pPr>
            <a:r>
              <a:rPr>
                <a:latin typeface="黑体" charset="0"/>
                <a:ea typeface="黑体" charset="0"/>
                <a:cs typeface="黑体" charset="0"/>
              </a:rPr>
              <a:t>数据规模较小：限制传统模型调优空间，也难以充分发挥深度学习模型能力</a:t>
            </a:r>
            <a:endParaRPr>
              <a:latin typeface="黑体" charset="0"/>
              <a:ea typeface="黑体" charset="0"/>
              <a:cs typeface="黑体" charset="0"/>
            </a:endParaRPr>
          </a:p>
          <a:p>
            <a:pPr marL="285750" indent="-285750">
              <a:spcAft>
                <a:spcPts val="1200"/>
              </a:spcAft>
              <a:buFont typeface="Arial" panose="020B0604020202090204" pitchFamily="34" charset="0"/>
              <a:buChar char="•"/>
              <a:defRPr sz="1700"/>
            </a:pPr>
            <a:r>
              <a:rPr>
                <a:latin typeface="黑体" charset="0"/>
                <a:ea typeface="黑体" charset="0"/>
                <a:cs typeface="黑体" charset="0"/>
              </a:rPr>
              <a:t>序列信息预测力较弱：GRU、DIN 均未超过传统机器学习</a:t>
            </a:r>
            <a:endParaRPr>
              <a:latin typeface="黑体" charset="0"/>
              <a:ea typeface="黑体" charset="0"/>
              <a:cs typeface="黑体" charset="0"/>
            </a:endParaRPr>
          </a:p>
          <a:p>
            <a:pPr marL="285750" indent="-285750">
              <a:spcAft>
                <a:spcPts val="1200"/>
              </a:spcAft>
              <a:buFont typeface="Arial" panose="020B0604020202090204" pitchFamily="34" charset="0"/>
              <a:buChar char="•"/>
              <a:defRPr sz="1700"/>
            </a:pPr>
            <a:r>
              <a:rPr>
                <a:latin typeface="黑体" charset="0"/>
                <a:ea typeface="黑体" charset="0"/>
                <a:cs typeface="黑体" charset="0"/>
              </a:rPr>
              <a:t>正样本约占 66%：最优 XGBoost 对正样本识别较好，但负样本识别能力不足</a:t>
            </a:r>
            <a:endParaRPr>
              <a:latin typeface="黑体" charset="0"/>
              <a:ea typeface="黑体" charset="0"/>
              <a:cs typeface="黑体" charset="0"/>
            </a:endParaRPr>
          </a:p>
          <a:p>
            <a:pPr marL="285750" indent="-285750">
              <a:spcAft>
                <a:spcPts val="1200"/>
              </a:spcAft>
              <a:buFont typeface="Arial" panose="020B0604020202090204" pitchFamily="34" charset="0"/>
              <a:buChar char="•"/>
              <a:defRPr sz="1700"/>
            </a:pPr>
            <a:r>
              <a:rPr>
                <a:latin typeface="黑体" charset="0"/>
                <a:ea typeface="黑体" charset="0"/>
                <a:cs typeface="黑体" charset="0"/>
              </a:rPr>
              <a:t>后续方向：扩大数据规模、增强行为序列与商品侧特征、进一步处理样本不平衡</a:t>
            </a:r>
            <a:endParaRPr>
              <a:latin typeface="黑体" charset="0"/>
              <a:ea typeface="黑体" charset="0"/>
              <a:cs typeface="黑体" charset="0"/>
            </a:endParaRPr>
          </a:p>
          <a:p>
            <a:pPr marL="285750" indent="-285750">
              <a:spcAft>
                <a:spcPts val="1200"/>
              </a:spcAft>
              <a:buFont typeface="Arial" panose="020B0604020202090204" pitchFamily="34" charset="0"/>
              <a:buChar char="•"/>
              <a:defRPr sz="1700"/>
            </a:pPr>
            <a:r>
              <a:rPr>
                <a:latin typeface="黑体" charset="0"/>
                <a:ea typeface="黑体" charset="0"/>
                <a:cs typeface="黑体" charset="0"/>
              </a:rPr>
              <a:t>业务侧可继续按 RFM/活跃度等用户群体细分营销策略，并通过真实线上 A/B Test 验证离线模拟结果</a:t>
            </a:r>
            <a:endParaRPr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774565" cy="506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rPr>
                <a:latin typeface="黑体" charset="0"/>
                <a:ea typeface="黑体" charset="0"/>
                <a:cs typeface="黑体" charset="0"/>
              </a:rPr>
              <a:t>17 总结：数据 → 模型 → 业务</a:t>
            </a:r>
            <a:endParaRPr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1879600"/>
            <a:ext cx="10789920" cy="1183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90204" pitchFamily="34" charset="0"/>
              <a:buChar char="•"/>
              <a:defRPr sz="1700"/>
            </a:pPr>
            <a:r>
              <a:rPr>
                <a:latin typeface="黑体" charset="0"/>
                <a:ea typeface="黑体" charset="0"/>
                <a:cs typeface="黑体" charset="0"/>
              </a:rPr>
              <a:t>完成从海量数据工程、特征构建、机器学习/深度学习建模，到模型解释和业务模拟的完整闭环</a:t>
            </a:r>
            <a:endParaRPr>
              <a:latin typeface="黑体" charset="0"/>
              <a:ea typeface="黑体" charset="0"/>
              <a:cs typeface="黑体" charset="0"/>
            </a:endParaRPr>
          </a:p>
          <a:p>
            <a:pPr marL="285750" indent="-285750">
              <a:spcAft>
                <a:spcPts val="1200"/>
              </a:spcAft>
              <a:buFont typeface="Arial" panose="020B0604020202090204" pitchFamily="34" charset="0"/>
              <a:buChar char="•"/>
              <a:defRPr sz="1700"/>
            </a:pPr>
            <a:r>
              <a:rPr>
                <a:latin typeface="黑体" charset="0"/>
                <a:ea typeface="黑体" charset="0"/>
                <a:cs typeface="黑体" charset="0"/>
              </a:rPr>
              <a:t>当前数据下，传统机器学习模型整体优于 GRU/DIN；XGBoost 等模型能够识别高意向用户</a:t>
            </a:r>
            <a:endParaRPr>
              <a:latin typeface="黑体" charset="0"/>
              <a:ea typeface="黑体" charset="0"/>
              <a:cs typeface="黑体" charset="0"/>
            </a:endParaRPr>
          </a:p>
          <a:p>
            <a:pPr marL="285750" indent="-285750">
              <a:spcAft>
                <a:spcPts val="1200"/>
              </a:spcAft>
              <a:buFont typeface="Arial" panose="020B0604020202090204" pitchFamily="34" charset="0"/>
              <a:buChar char="•"/>
              <a:defRPr sz="1700"/>
            </a:pPr>
            <a:r>
              <a:rPr>
                <a:latin typeface="黑体" charset="0"/>
                <a:ea typeface="黑体" charset="0"/>
                <a:cs typeface="黑体" charset="0"/>
              </a:rPr>
              <a:t>模型结果可以进一步服务于精准营销、优惠券投放与用户唤醒，并通过实验持续验证业务价值</a:t>
            </a:r>
            <a:endParaRPr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2886</Words>
  <Application>WPS 演示</Application>
  <PresentationFormat>On-screen Show (4:3)</PresentationFormat>
  <Paragraphs>256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44" baseType="lpstr">
      <vt:lpstr>Arial</vt:lpstr>
      <vt:lpstr>宋体</vt:lpstr>
      <vt:lpstr>Wingdings</vt:lpstr>
      <vt:lpstr>Arial</vt:lpstr>
      <vt:lpstr>Calibri</vt:lpstr>
      <vt:lpstr>Helvetica Neue</vt:lpstr>
      <vt:lpstr>宋体</vt:lpstr>
      <vt:lpstr>宋体-简</vt:lpstr>
      <vt:lpstr>微软雅黑</vt:lpstr>
      <vt:lpstr>汉仪旗黑</vt:lpstr>
      <vt:lpstr>Arial Unicode MS</vt:lpstr>
      <vt:lpstr>PingFang SC Regular</vt:lpstr>
      <vt:lpstr>Helvetica Neue Regular</vt:lpstr>
      <vt:lpstr>Heiti TC Light</vt:lpstr>
      <vt:lpstr>Heiti SC Light</vt:lpstr>
      <vt:lpstr>Kaiti SC Regular</vt:lpstr>
      <vt:lpstr>Kaiti TC Regular</vt:lpstr>
      <vt:lpstr>Lantinghei TC Extralight</vt:lpstr>
      <vt:lpstr>Lantinghei SC Extralight</vt:lpstr>
      <vt:lpstr>SimSong Regular</vt:lpstr>
      <vt:lpstr>黑体</vt:lpstr>
      <vt:lpstr>黑体-简</vt:lpstr>
      <vt:lpstr>Hiragino Sans GB W3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WPS_1790053109</cp:lastModifiedBy>
  <cp:revision>2</cp:revision>
  <dcterms:created xsi:type="dcterms:W3CDTF">2026-09-22T05:28:10Z</dcterms:created>
  <dcterms:modified xsi:type="dcterms:W3CDTF">2026-09-22T05:28:10Z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2052-12.1.28496.28496</vt:lpwstr>
  </property>
  <property fmtid="{D5CDD505-2E9C-101B-9397-08002B2CF9AE}" pid="3" name="ICV">
    <vt:lpwstr>9B3D3B507E31A14DEA11B26A8B82F9A7_42</vt:lpwstr>
  </property>
</Properties>
</file>